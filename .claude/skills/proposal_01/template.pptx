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6"/>
    <p:sldId id="276" r:id="rId5"/>
    <p:sldId id="277" r:id="rId4"/>
    <p:sldId id="278" r:id="rId3"/>
    <p:sldId id="279" r:id="rId2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3A71BB2-2F22-0215-71A9-BE9D6C4D4080}">
          <p14:sldIdLst>
            <p14:sldId id="256"/>
            <p14:sldId id="257"/>
            <p14:sldId id="258"/>
          </p14:sldIdLst>
        </p14:section>
        <p14:section name="Ⅰ. 제안 배경" id="{E78435F2-0C9B-C654-7809-1CCBAAFBB4EE}">
          <p14:sldIdLst>
            <p14:sldId id="259"/>
            <p14:sldId id="260"/>
            <p14:sldId id="261"/>
          </p14:sldIdLst>
        </p14:section>
        <p14:section name="Ⅱ. 1차 구축 방안" id="{4CCBFCED-8800-2F38-1CDC-351F5BF9442D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Ⅲ. 확장 방안" id="{EDD8E1DB-60A6-45F4-7112-4343A779F88F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Ⅳ. 추진 계획" id="{AB5BEA68-3194-22C3-079F-0D304DC885E4}">
          <p14:sldIdLst>
            <p14:sldId id="275"/>
            <p14:sldId id="276"/>
            <p14:sldId id="277"/>
            <p14:sldId id="278"/>
          </p14:sldIdLst>
        </p14:section>
        <p14:section name="마무리" id="{40A56546-3D27-CB4A-22A8-A673F8889842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4.xml"/><Relationship Id="rId3" Type="http://schemas.openxmlformats.org/officeDocument/2006/relationships/slide" Target="slides/slide23.xml"/><Relationship Id="rId4" Type="http://schemas.openxmlformats.org/officeDocument/2006/relationships/slide" Target="slides/slide22.xml"/><Relationship Id="rId5" Type="http://schemas.openxmlformats.org/officeDocument/2006/relationships/slide" Target="slides/slide21.xml"/><Relationship Id="rId6" Type="http://schemas.openxmlformats.org/officeDocument/2006/relationships/slide" Target="slides/slide2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216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1_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eesangyun/VT_VAS_PRJ/01_제안_착수/build/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382512"/>
            <a:ext cx="1161341" cy="155448"/>
          </a:xfrm>
          <a:prstGeom prst="rect">
            <a:avLst/>
          </a:prstGeom>
        </p:spPr>
      </p:pic>
      <p:pic>
        <p:nvPicPr>
          <p:cNvPr id="3" name="Image 1" descr="/Users/leesangyun/VT_VAS_PRJ/01_제안_착수/build/logo_itx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158" y="6382512"/>
            <a:ext cx="1644857" cy="1554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2"/>
                </a:solidFill>
              </a:rPr>
              <a:t>제안서</a:t>
            </a:r>
            <a:endParaRPr lang="en-US" sz="1200" dirty="0"/>
          </a:p>
        </p:txBody>
      </p:sp>
      <p:sp>
        <p:nvSpPr>
          <p:cNvPr id="5" name="Shape 1"/>
          <p:cNvSpPr/>
          <p:nvPr/>
        </p:nvSpPr>
        <p:spPr>
          <a:xfrm>
            <a:off x="868680" y="2157984"/>
            <a:ext cx="566928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2"/>
          <p:cNvSpPr>
            <a:spLocks noGrp="1"/>
          </p:cNvSpPr>
          <p:nvPr>
            <p:ph type="title" idx="104" hasCustomPrompt="1"/>
          </p:nvPr>
        </p:nvSpPr>
        <p:spPr>
          <a:xfrm>
            <a:off x="868680" y="2377440"/>
            <a:ext cx="10424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5000"/>
              </a:lnSpc>
              <a:buNone/>
              <a:defRPr lang="en-US" sz="4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</a:rPr>
              <a:t>제안서 제목</a:t>
            </a:r>
            <a:endParaRPr lang="en-US" sz="4000" dirty="0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868680" y="3886200"/>
            <a:ext cx="104241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부제</a:t>
            </a:r>
            <a:endParaRPr lang="en-US" sz="2000" dirty="0"/>
          </a:p>
        </p:txBody>
      </p:sp>
      <p:sp>
        <p:nvSpPr>
          <p:cNvPr id="8" name="Text 2"/>
          <p:cNvSpPr>
            <a:spLocks noGrp="1"/>
          </p:cNvSpPr>
          <p:nvPr>
            <p:ph type="body" idx="106" hasCustomPrompt="1"/>
          </p:nvPr>
        </p:nvSpPr>
        <p:spPr>
          <a:xfrm>
            <a:off x="0" y="5257800"/>
            <a:ext cx="121916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300" dirty="0">
                <a:solidFill>
                  <a:schemeClr val="accent3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300" dirty="0">
                <a:solidFill>
                  <a:schemeClr val="accent3"/>
                </a:solidFill>
              </a:rPr>
              <a:t>작성일 · 작성 부서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2_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54864" cy="6858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96814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chemeClr val="accent5"/>
                </a:solidFill>
              </a:rPr>
              <a:t>CONTENTS</a:t>
            </a:r>
            <a:endParaRPr lang="en-US" sz="1000" dirty="0"/>
          </a:p>
        </p:txBody>
      </p:sp>
      <p:pic>
        <p:nvPicPr>
          <p:cNvPr id="5" name="Image 0" descr="/Users/leesangyun/VT_VAS_PRJ/01_제안_착수/build/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080760"/>
            <a:ext cx="956399" cy="1280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328818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목차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3_간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54864" cy="6858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96814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chemeClr val="accent5"/>
                </a:solidFill>
              </a:rPr>
              <a:t>PART</a:t>
            </a:r>
            <a:endParaRPr lang="en-US" sz="1000" dirty="0"/>
          </a:p>
        </p:txBody>
      </p:sp>
      <p:pic>
        <p:nvPicPr>
          <p:cNvPr id="5" name="Image 0" descr="/Users/leesangyun/VT_VAS_PRJ/01_제안_착수/build/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080760"/>
            <a:ext cx="956399" cy="128016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502920" y="3288182"/>
            <a:ext cx="27432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01</a:t>
            </a:r>
            <a:endParaRPr lang="en-US" sz="4800" dirty="0"/>
          </a:p>
        </p:txBody>
      </p:sp>
      <p:sp>
        <p:nvSpPr>
          <p:cNvPr id="7" name="Text 3"/>
          <p:cNvSpPr>
            <a:spLocks noGrp="1"/>
          </p:cNvSpPr>
          <p:nvPr>
            <p:ph type="title" idx="105" hasCustomPrompt="1"/>
          </p:nvPr>
        </p:nvSpPr>
        <p:spPr>
          <a:xfrm>
            <a:off x="4480560" y="2331720"/>
            <a:ext cx="71323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</a:rPr>
              <a:t>장 제목</a:t>
            </a:r>
            <a:endParaRPr lang="en-US" sz="3000" dirty="0"/>
          </a:p>
        </p:txBody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4480560" y="3108960"/>
            <a:ext cx="71323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장 요지</a:t>
            </a:r>
            <a:endParaRPr lang="en-US" sz="1400" dirty="0"/>
          </a:p>
        </p:txBody>
      </p:sp>
      <p:sp>
        <p:nvSpPr>
          <p:cNvPr id="9" name="Text 3"/>
          <p:cNvSpPr>
            <a:spLocks noGrp="1"/>
          </p:cNvSpPr>
          <p:nvPr>
            <p:ph type="body" idx="107" hasCustomPrompt="1"/>
          </p:nvPr>
        </p:nvSpPr>
        <p:spPr>
          <a:xfrm>
            <a:off x="4480560" y="3977640"/>
            <a:ext cx="71323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177800" indent="-177800">
              <a:spcAft>
                <a:spcPts val="600"/>
              </a:spcAft>
              <a:buSzPct val="100000"/>
              <a:buChar char="•"/>
              <a:defRPr lang="en-US" sz="1300" dirty="0">
                <a:solidFill>
                  <a:schemeClr val="tx1"/>
                </a:solidFill>
              </a:defRPr>
            </a:lvl1pPr>
          </a:lstStyle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하위 항목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4_내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16736"/>
            <a:ext cx="11277295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mage 0" descr="/Users/leesangyun/VT_VAS_PRJ/01_제안_착수/build/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0528"/>
            <a:ext cx="819770" cy="109728"/>
          </a:xfrm>
          <a:prstGeom prst="rect">
            <a:avLst/>
          </a:prstGeom>
        </p:spPr>
      </p:pic>
      <p:pic>
        <p:nvPicPr>
          <p:cNvPr id="4" name="Image 1" descr="/Users/leesangyun/VT_VAS_PRJ/01_제안_착수/build/logo_itx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420" y="6510528"/>
            <a:ext cx="1161075" cy="109728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310896"/>
            <a:ext cx="1127729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Ⅰ-1.  장 제목</a:t>
            </a:r>
            <a:endParaRPr lang="en-US" sz="20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457200" y="841248"/>
            <a:ext cx="11277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거버닝 메시지 — 이 장의 결론 한 문장</a:t>
            </a:r>
            <a:endParaRPr lang="en-US" sz="1400" dirty="0"/>
          </a:p>
        </p:txBody>
      </p:sp>
      <p:sp>
        <p:nvSpPr>
          <p:cNvPr id="7" name="Text 1"/>
          <p:cNvSpPr>
            <a:spLocks noGrp="1"/>
          </p:cNvSpPr>
          <p:nvPr>
            <p:ph type="body" idx="105" hasCustomPrompt="1"/>
          </p:nvPr>
        </p:nvSpPr>
        <p:spPr>
          <a:xfrm>
            <a:off x="457200" y="6144768"/>
            <a:ext cx="11277295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8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r>
              <a:rPr lang="en-US" sz="800" dirty="0">
                <a:solidFill>
                  <a:schemeClr val="accent3"/>
                </a:solidFill>
              </a:rPr>
              <a:t>출처 · 주석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5_마무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eesangyun/VT_VAS_PRJ/01_제안_착수/build/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382512"/>
            <a:ext cx="1161341" cy="155448"/>
          </a:xfrm>
          <a:prstGeom prst="rect">
            <a:avLst/>
          </a:prstGeom>
        </p:spPr>
      </p:pic>
      <p:pic>
        <p:nvPicPr>
          <p:cNvPr id="3" name="Image 1" descr="/Users/leesangyun/VT_VAS_PRJ/01_제안_착수/build/logo_itx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158" y="6382512"/>
            <a:ext cx="1644857" cy="15544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68680" y="2514600"/>
            <a:ext cx="54864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868680" y="269748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감사합니다</a:t>
            </a:r>
            <a:endParaRPr lang="en-US" sz="36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868680" y="3611880"/>
            <a:ext cx="104241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마무리 문구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4"/>
          </p:nvPr>
        </p:nvSpPr>
        <p:spPr/>
        <p:txBody>
          <a:bodyPr/>
          <a:lstStyle/>
          <a:p>
            <a:r>
              <a:t>[고객사]</a:t>
            </a:r>
          </a:p>
          <a:p>
            <a:r>
              <a:t>업무 AI Assistant 구축 제안서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사내 지식 기반 AI 어시스턴트 구축 · 운영 · 확산 제안 (표준 양식 v1.0)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YYYY. MM. DD</a:t>
            </a:r>
          </a:p>
          <a:p>
            <a:r>
              <a:t>[제안사 · 부서명]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문서 정보 및 개정 이력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제안서의 버전 · 작성자 · 구성을 관리하고, 화면설계서와 연결되는 ID 체계를 안내합니다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본 제안서의 기능 ID(FN) · 요구사항 ID(REQ)는 화면설계서의 화면 ID · 정의서 ID와 동일하게 사용합니다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8521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개정 이력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1792224"/>
            <a:ext cx="640080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457200" y="1920240"/>
          <a:ext cx="6400800" cy="25603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8640"/>
                <a:gridCol w="822960"/>
                <a:gridCol w="1280160"/>
                <a:gridCol w="1097280"/>
                <a:gridCol w="265176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Ver.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일자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작성자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주요 내용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최초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YYYY.MM.DD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[작성자]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최초 작성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수정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YYYY.MM.DD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[작성자]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[고객 의견 반영]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" name="Rectangle 58"/>
          <p:cNvSpPr/>
          <p:nvPr/>
        </p:nvSpPr>
        <p:spPr>
          <a:xfrm>
            <a:off x="7132320" y="1463040"/>
            <a:ext cx="405079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문서 구성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132320" y="1792224"/>
            <a:ext cx="459943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132320" y="1920240"/>
            <a:ext cx="4599432" cy="47548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Ⅰ 제안 배경   —   현황 · 문제 · 목표 · 범위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32320" y="2468880"/>
            <a:ext cx="4599432" cy="47548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Ⅱ 서비스 정의   —   사용자 · 기능 · 시나리오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0" y="3017520"/>
            <a:ext cx="4599432" cy="47548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Ⅲ 구축 방안   —   아키텍처 · 데이터 · AI · UX · 보안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0" y="3566160"/>
            <a:ext cx="4599432" cy="47548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Ⅳ 사업 관리   —   체계 · 일정 · 테스트 · 리스크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32320" y="4114800"/>
            <a:ext cx="4599432" cy="47548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Ⅴ 기대효과 · 투자   —   KPI · 비용 · 확장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32320" y="4663440"/>
            <a:ext cx="4599432" cy="475488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Ⅵ 부록   —   역량 · 용어 · 추적표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480560" y="1408176"/>
            <a:ext cx="365760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74920" y="1353312"/>
            <a:ext cx="658368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700" b="1">
                <a:solidFill>
                  <a:srgbClr val="1A2233"/>
                </a:solidFill>
                <a:latin typeface="Malgun Gothic"/>
                <a:ea typeface="Malgun Gothic"/>
              </a:rPr>
              <a:t>제안 배경</a:t>
            </a:r>
          </a:p>
        </p:txBody>
      </p:sp>
      <p:sp>
        <p:nvSpPr>
          <p:cNvPr id="4" name="Rectangle 3"/>
          <p:cNvSpPr/>
          <p:nvPr/>
        </p:nvSpPr>
        <p:spPr>
          <a:xfrm>
            <a:off x="5074920" y="1700784"/>
            <a:ext cx="6858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50" b="0">
                <a:solidFill>
                  <a:srgbClr val="5A6577"/>
                </a:solidFill>
                <a:latin typeface="Malgun Gothic"/>
                <a:ea typeface="Malgun Gothic"/>
              </a:rPr>
              <a:t>현황 · 문제 · 요구 · 목표 · 범위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480560" y="2148840"/>
            <a:ext cx="717804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480560" y="2322576"/>
            <a:ext cx="365760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2267712"/>
            <a:ext cx="658368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700" b="1">
                <a:solidFill>
                  <a:srgbClr val="1A2233"/>
                </a:solidFill>
                <a:latin typeface="Malgun Gothic"/>
                <a:ea typeface="Malgun Gothic"/>
              </a:rPr>
              <a:t>서비스 정의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2615184"/>
            <a:ext cx="6858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50" b="0">
                <a:solidFill>
                  <a:srgbClr val="5A6577"/>
                </a:solidFill>
                <a:latin typeface="Malgun Gothic"/>
                <a:ea typeface="Malgun Gothic"/>
              </a:rPr>
              <a:t>사용자 · 여정 · 기능 · 시나리오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80560" y="3063240"/>
            <a:ext cx="717804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480560" y="3236976"/>
            <a:ext cx="365760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3182112"/>
            <a:ext cx="658368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700" b="1">
                <a:solidFill>
                  <a:srgbClr val="1A2233"/>
                </a:solidFill>
                <a:latin typeface="Malgun Gothic"/>
                <a:ea typeface="Malgun Gothic"/>
              </a:rPr>
              <a:t>구축 방안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3529584"/>
            <a:ext cx="6858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50" b="0">
                <a:solidFill>
                  <a:srgbClr val="5A6577"/>
                </a:solidFill>
                <a:latin typeface="Malgun Gothic"/>
                <a:ea typeface="Malgun Gothic"/>
              </a:rPr>
              <a:t>아키텍처 · 데이터 · AI · UX · 보안 · 인프라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80560" y="3977639"/>
            <a:ext cx="717804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480560" y="4151376"/>
            <a:ext cx="365760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4096512"/>
            <a:ext cx="658368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700" b="1">
                <a:solidFill>
                  <a:srgbClr val="1A2233"/>
                </a:solidFill>
                <a:latin typeface="Malgun Gothic"/>
                <a:ea typeface="Malgun Gothic"/>
              </a:rPr>
              <a:t>사업 관리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4443984"/>
            <a:ext cx="6858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50" b="0">
                <a:solidFill>
                  <a:srgbClr val="5A6577"/>
                </a:solidFill>
                <a:latin typeface="Malgun Gothic"/>
                <a:ea typeface="Malgun Gothic"/>
              </a:rPr>
              <a:t>체계 · 일정 · 산출물 · 테스트 · 이행 · 리스크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80560" y="4892040"/>
            <a:ext cx="717804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480560" y="5065776"/>
            <a:ext cx="365760" cy="3657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5010912"/>
            <a:ext cx="658368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700" b="1">
                <a:solidFill>
                  <a:srgbClr val="1A2233"/>
                </a:solidFill>
                <a:latin typeface="Malgun Gothic"/>
                <a:ea typeface="Malgun Gothic"/>
              </a:rPr>
              <a:t>기대효과 · 투자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5358384"/>
            <a:ext cx="6858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50" b="0">
                <a:solidFill>
                  <a:srgbClr val="5A6577"/>
                </a:solidFill>
                <a:latin typeface="Malgun Gothic"/>
                <a:ea typeface="Malgun Gothic"/>
              </a:rPr>
              <a:t>KPI · 비용 · 확장 로드맵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80560" y="5806440"/>
            <a:ext cx="717804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제안 요약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본 제안은 [고객사]에 사내 지식 기반 업무 AI Assistant를 구축하고, 단계적 고도화를 거쳐 전사로 확산하는 사업입니다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cxnSp>
        <p:nvCxnSpPr>
          <p:cNvPr id="56" name="Connector 55"/>
          <p:cNvCxnSpPr/>
          <p:nvPr/>
        </p:nvCxnSpPr>
        <p:spPr>
          <a:xfrm>
            <a:off x="3383280" y="1572768"/>
            <a:ext cx="3017520" cy="0"/>
          </a:xfrm>
          <a:prstGeom prst="line">
            <a:avLst/>
          </a:prstGeom>
          <a:ln w="12700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3840480" y="1463040"/>
            <a:ext cx="21945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1B2A4A"/>
                </a:solidFill>
                <a:latin typeface="Malgun Gothic"/>
                <a:ea typeface="Malgun Gothic"/>
              </a:rPr>
              <a:t>본 사업 범위 · 1차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583680" y="1572768"/>
            <a:ext cx="5148072" cy="0"/>
          </a:xfrm>
          <a:prstGeom prst="line">
            <a:avLst/>
          </a:prstGeom>
          <a:ln w="12700">
            <a:solidFill>
              <a:srgbClr val="5A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863840" y="1463040"/>
            <a:ext cx="182880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5A6577"/>
                </a:solidFill>
                <a:latin typeface="Malgun Gothic"/>
                <a:ea typeface="Malgun Gothic"/>
              </a:rPr>
              <a:t>추가 제안 · 2차 이후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182880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1920240"/>
            <a:ext cx="1005840" cy="219456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① 현황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2240280"/>
            <a:ext cx="23774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150" b="1">
                <a:solidFill>
                  <a:srgbClr val="1A2233"/>
                </a:solidFill>
                <a:latin typeface="Malgun Gothic"/>
                <a:ea typeface="Malgun Gothic"/>
              </a:rPr>
              <a:t>흩어진 사내 지식,</a:t>
            </a:r>
          </a:p>
          <a:p>
            <a:pPr algn="l"/>
            <a:r>
              <a:rPr sz="1150" b="1">
                <a:solidFill>
                  <a:srgbClr val="1A2233"/>
                </a:solidFill>
                <a:latin typeface="Malgun Gothic"/>
                <a:ea typeface="Malgun Gothic"/>
              </a:rPr>
              <a:t>찾는 데만 소요되는 시간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2971800"/>
            <a:ext cx="23774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규정 · 서식 · 공지 분산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키워드 검색의 한계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담당자 문의 의존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4160520"/>
            <a:ext cx="2377440" cy="685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36000" tIns="18000" bIns="18000"/>
          <a:lstStyle/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기대효과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업무 시간 손실 · 답변 편차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91840" y="1828800"/>
            <a:ext cx="260604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401568" y="1920240"/>
            <a:ext cx="1005840" cy="219456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  <a:ea typeface="Malgun Gothic"/>
              </a:rPr>
              <a:t>② 본 구축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01568" y="2240280"/>
            <a:ext cx="23774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150" b="1">
                <a:solidFill>
                  <a:srgbClr val="1A2233"/>
                </a:solidFill>
                <a:latin typeface="Malgun Gothic"/>
                <a:ea typeface="Malgun Gothic"/>
              </a:rPr>
              <a:t>사내 지식 기반</a:t>
            </a:r>
          </a:p>
          <a:p>
            <a:pPr algn="l"/>
            <a:r>
              <a:rPr sz="1150" b="1">
                <a:solidFill>
                  <a:srgbClr val="1A2233"/>
                </a:solidFill>
                <a:latin typeface="Malgun Gothic"/>
                <a:ea typeface="Malgun Gothic"/>
              </a:rPr>
              <a:t>AI 질의응답 서비스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01568" y="2971800"/>
            <a:ext cx="23774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SSO · 권한 기반 사내검색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출처 포함 답변 · 피드백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관리자 운영 · 모니터링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01568" y="4160520"/>
            <a:ext cx="2377440" cy="685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36000" tIns="18000" bIns="18000"/>
          <a:lstStyle/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기대효과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문의 대응 시간 N% 절감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0" y="182880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36208" y="1920240"/>
            <a:ext cx="1005840" cy="219456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③ 고도화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6208" y="2240280"/>
            <a:ext cx="23774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150" b="1">
                <a:solidFill>
                  <a:srgbClr val="1A2233"/>
                </a:solidFill>
                <a:latin typeface="Malgun Gothic"/>
                <a:ea typeface="Malgun Gothic"/>
              </a:rPr>
              <a:t>업무 연계형</a:t>
            </a:r>
          </a:p>
          <a:p>
            <a:pPr algn="l"/>
            <a:r>
              <a:rPr sz="1150" b="1">
                <a:solidFill>
                  <a:srgbClr val="1A2233"/>
                </a:solidFill>
                <a:latin typeface="Malgun Gothic"/>
                <a:ea typeface="Malgun Gothic"/>
              </a:rPr>
              <a:t>Agent로 진화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36208" y="2971800"/>
            <a:ext cx="23774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웹검색 · 파일 첨부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대시보드 · 알림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업무 시스템 연계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36208" y="4160520"/>
            <a:ext cx="2377440" cy="685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36000" tIns="18000" bIns="18000"/>
          <a:lstStyle/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기대효과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업무 자동화 범위 확대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61120" y="182880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070848" y="1920240"/>
            <a:ext cx="1005840" cy="219456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④ 확산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70848" y="2240280"/>
            <a:ext cx="237744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150" b="1">
                <a:solidFill>
                  <a:srgbClr val="1A2233"/>
                </a:solidFill>
                <a:latin typeface="Malgun Gothic"/>
                <a:ea typeface="Malgun Gothic"/>
              </a:rPr>
              <a:t>그룹사 · 해외 법인</a:t>
            </a:r>
          </a:p>
          <a:p>
            <a:pPr algn="l"/>
            <a:r>
              <a:rPr sz="1150" b="1">
                <a:solidFill>
                  <a:srgbClr val="1A2233"/>
                </a:solidFill>
                <a:latin typeface="Malgun Gothic"/>
                <a:ea typeface="Malgun Gothic"/>
              </a:rPr>
              <a:t>표준 모델 확산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70848" y="2971800"/>
            <a:ext cx="23774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법인별 권한 분리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용어 사전 재사용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운영 모델 표준화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070848" y="4160520"/>
            <a:ext cx="2377440" cy="685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36000" tIns="18000" bIns="18000"/>
          <a:lstStyle/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기대효과</a:t>
            </a:r>
          </a:p>
          <a:p>
            <a:pPr algn="l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구축 기간 · 비용 절감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5166360"/>
            <a:ext cx="11274552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찾는 지식 → 묻는 지식:  사내 지식을 권한 안에서 근거와 함께 바로 답하는 AI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제안 핵심 가치와 차별점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신뢰할 수 있는 답변 · 안전한 권한 통제 · 지속 개선 가능한 운영, 세 가지를 핵심 가치로 제안합니다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3666744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1554480"/>
            <a:ext cx="3666744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① 신뢰 — 근거 있는 답변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2057400"/>
            <a:ext cx="3392424" cy="2834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모든 답변에 출처 · 인용 번호 제시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출처 검증 단계 포함 (할루시네이션 억제)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피드백 기반 품질 개선 루프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4937760"/>
            <a:ext cx="3392424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정확도 85% 이상 목표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61104" y="1554480"/>
            <a:ext cx="3666744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4261104" y="1554480"/>
            <a:ext cx="3666744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② 안전 — 권한 기반 통제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98264" y="2057400"/>
            <a:ext cx="3392424" cy="2834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기존 권한 체계(SSO) 그대로 적용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권한 없는 문서는 존재 여부도 비노출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질의 · 응답 로그 감사 보관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98264" y="4937760"/>
            <a:ext cx="3392424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보안 심의 사전 대응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65008" y="1554480"/>
            <a:ext cx="3666744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8065008" y="1554480"/>
            <a:ext cx="3666744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③ 지속 — 운영 가능한 구조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02168" y="2057400"/>
            <a:ext cx="3392424" cy="2834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관리자 화면에서 문서 · 사용자 · 용어 관리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임베딩 · 배치 상태 모니터링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단계별 확장 가능한 모듈 구조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02168" y="4937760"/>
            <a:ext cx="3392424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운영 인력 최소화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/>
        <p:txBody>
          <a:bodyPr/>
          <a:lstStyle/>
          <a:p>
            <a:r>
              <a:t>제안 배경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현황을 진단하고 문제와 요구를 정의하여 제안 목표와 범위를 제시합니다.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t>추진 배경 · 현황 · 문제</a:t>
            </a:r>
          </a:p>
          <a:p>
            <a:r>
              <a:t>현업 요구사항 · 벤치마킹</a:t>
            </a:r>
          </a:p>
          <a:p>
            <a:r>
              <a:t>목표 · 범위 · 전략 · 로드맵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Ⅰ-1.  추진 배경 및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생성형 AI 확산과 업무 지식의 폭증으로, 사내 지식을 빠르고 안전하게 활용할 체계가 필요합니다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환경 분석의 수치 · 사례는 [출처]를 명시하여 기재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3666744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1554480"/>
            <a:ext cx="3666744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외부 환경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2057400"/>
            <a:ext cx="3392424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생성형 AI 업무 도입 가속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경쟁사 AI 어시스턴트 도입 사례 증가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임직원 AI 활용 기대 수준 상승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61104" y="1554480"/>
            <a:ext cx="3666744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4261104" y="1554480"/>
            <a:ext cx="3666744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내부 환경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98264" y="2057400"/>
            <a:ext cx="3392424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규정 · 서식 · 공지 등 문서 급증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시스템별 지식 분산 (그룹웨어 · 게시판)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인력 이동 시 업무 지식 단절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65008" y="1554480"/>
            <a:ext cx="3666744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8065008" y="1554480"/>
            <a:ext cx="3666744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추진 필요성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02168" y="2057400"/>
            <a:ext cx="3392424" cy="2743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검색 시간 단축으로 생산성 향상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일관된 답변으로 업무 품질 확보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AI 활용 기반의 전사 확산 거점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Ⅰ-2.  현황 진단 (As-Is 업무 흐름)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임직원이 필요한 정보를 찾는 과정에 단계별 손실이 발생하고 있습니다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손실 수치는 현업 설문 · 로그 분석 결과로 대체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Pentagon 55"/>
          <p:cNvSpPr/>
          <p:nvPr/>
        </p:nvSpPr>
        <p:spPr>
          <a:xfrm>
            <a:off x="457200" y="1554480"/>
            <a:ext cx="2209190" cy="566928"/>
          </a:xfrm>
          <a:prstGeom prst="homePlat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① 정보 필요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업무 중 규정 · 절차 확인</a:t>
            </a:r>
          </a:p>
        </p:txBody>
      </p:sp>
      <p:sp>
        <p:nvSpPr>
          <p:cNvPr id="57" name="Pentagon 56"/>
          <p:cNvSpPr/>
          <p:nvPr/>
        </p:nvSpPr>
        <p:spPr>
          <a:xfrm>
            <a:off x="2712110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② 탐색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게시판 · 메일 · 공유폴더</a:t>
            </a:r>
          </a:p>
        </p:txBody>
      </p:sp>
      <p:sp>
        <p:nvSpPr>
          <p:cNvPr id="58" name="Pentagon 57"/>
          <p:cNvSpPr/>
          <p:nvPr/>
        </p:nvSpPr>
        <p:spPr>
          <a:xfrm>
            <a:off x="4967020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③ 문서 확인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여러 문서 열람 · 비교</a:t>
            </a:r>
          </a:p>
        </p:txBody>
      </p:sp>
      <p:sp>
        <p:nvSpPr>
          <p:cNvPr id="59" name="Pentagon 58"/>
          <p:cNvSpPr/>
          <p:nvPr/>
        </p:nvSpPr>
        <p:spPr>
          <a:xfrm>
            <a:off x="7221931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④ 담당자 문의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답변 대기 · 재문의</a:t>
            </a:r>
          </a:p>
        </p:txBody>
      </p:sp>
      <p:sp>
        <p:nvSpPr>
          <p:cNvPr id="60" name="Pentagon 59"/>
          <p:cNvSpPr/>
          <p:nvPr/>
        </p:nvSpPr>
        <p:spPr>
          <a:xfrm>
            <a:off x="9476841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⑤ 업무 반영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해석 편차 · 재작업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457200" y="2331720"/>
          <a:ext cx="11274552" cy="35844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3291840"/>
                <a:gridCol w="3657600"/>
                <a:gridCol w="286207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현재 방식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문제점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손실 (추정)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② 탐색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키워드 검색, 시스템별 개별 접속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원하는 문서를 찾지 못함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[건당 N분]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③ 문서 확인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PDF · 문서 직접 열람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최신본 · 관련 규정 혼재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[건당 N분]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④ 담당자 문의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메신저 · 전화 · 메일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담당자 업무 중단, 답변 편차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[월 N건]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⑤ 업무 반영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개인 해석에 의존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오해로 인한 재작업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[월 N건]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Ⅰ-3.  문제점 분석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정보 탐색 · 신뢰성 · 권한 · 운영 네 가지 영역에서 구조적 한계가 확인됩니다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5559552" cy="21031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1645920"/>
            <a:ext cx="50292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01  탐색의 한계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40080" y="2029967"/>
            <a:ext cx="5193792" cy="0"/>
          </a:xfrm>
          <a:prstGeom prst="line">
            <a:avLst/>
          </a:prstGeom>
          <a:ln w="9525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640080" y="2148840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현상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25880" y="2103120"/>
            <a:ext cx="45262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시스템별로 따로 검색하고 키워드가 맞아야 결과가 나옴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2834639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영향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25880" y="2788920"/>
            <a:ext cx="45262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필요 정보 접근 지연 · 업무 중단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1554480"/>
            <a:ext cx="5559552" cy="21031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1645920"/>
            <a:ext cx="50292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02  신뢰성 부족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355080" y="2029967"/>
            <a:ext cx="5193792" cy="0"/>
          </a:xfrm>
          <a:prstGeom prst="line">
            <a:avLst/>
          </a:prstGeom>
          <a:ln w="9525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355080" y="2148840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현상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40880" y="2103120"/>
            <a:ext cx="45262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문서 버전이 달라 어떤 규정이 최신인지 불명확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2834639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영향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40880" y="2788920"/>
            <a:ext cx="45262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오해석 · 재작업 · 분쟁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3794760"/>
            <a:ext cx="5559552" cy="21031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3886200"/>
            <a:ext cx="50292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03  권한 · 보안 불안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40080" y="4270248"/>
            <a:ext cx="5193792" cy="0"/>
          </a:xfrm>
          <a:prstGeom prst="line">
            <a:avLst/>
          </a:prstGeom>
          <a:ln w="9525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640080" y="4389120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현상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25880" y="4343400"/>
            <a:ext cx="45262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AI 도입 시 권한 없는 정보가 노출될 우려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" y="5074920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영향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25880" y="5029200"/>
            <a:ext cx="45262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AI 도입 지연 · 보안 리스크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72200" y="3794760"/>
            <a:ext cx="5559552" cy="21031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6355080" y="3886200"/>
            <a:ext cx="50292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04  운영 체계 부재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355080" y="4270248"/>
            <a:ext cx="5193792" cy="0"/>
          </a:xfrm>
          <a:prstGeom prst="line">
            <a:avLst/>
          </a:prstGeom>
          <a:ln w="9525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6355080" y="4389120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현상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040880" y="4343400"/>
            <a:ext cx="45262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지식 갱신 · 품질 관리 주체와 절차가 없음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55080" y="5074920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영향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040880" y="5029200"/>
            <a:ext cx="45262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정보 노후화 · 신뢰도 하락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Ⅰ-4.  현업 요구사항 (인터뷰 · 설문 결과)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부서별 인터뷰와 설문으로 도출한 요구사항을 우선순위와 반영 기능으로 정리했습니다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7200"/>
                <a:gridCol w="1463040"/>
                <a:gridCol w="4572000"/>
                <a:gridCol w="1005840"/>
                <a:gridCol w="1188720"/>
                <a:gridCol w="258775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No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부서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요구사항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빈도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우선순위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반영 기능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인사 · 총무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규정 · 휴가 · 경조사 문의에 즉답 필요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높음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FN-02, 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영업 · 마케팅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제품 · 경쟁사 정보를 빠르게 확인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높음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FN-02, 05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연구 · 개발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논문 · 특허 자료의 요약 검색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중간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FN-05, 06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경영진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이용 현황 · 성과를 한눈에 확인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중간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FN-08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IT · 보안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권한 통제 · 감사 로그 확보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높음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FN-11, 13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 임직원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모바일에서도 조회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낮음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FN-14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Ⅰ-5.  유사 사례 및 벤치마킹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내 · 외부 유사 사례와 비교하여 본 제안의 차별점과 보완점을 도출했습니다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2743200"/>
                <a:gridCol w="2743200"/>
                <a:gridCol w="368503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비교 항목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사례 A (글로벌 SaaS)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사례 B (자체 구축)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본 제안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답변 근거(출처)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제한적 제공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제공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 인용 + 검증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권한 연동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별도 설정 필요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일부 연동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 SSO 완전 연동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다국어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지원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미지원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 한 · 영 · 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관리자 기능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자체 개발 필요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 문서 · 임베딩 · 로그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데이터 보관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외부 클라우드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 [사내 · 전용 환경]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도입 기간 · 비용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빠름 · 구독형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길고 · 고비용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 단계 도입 · 합리 비용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Ⅰ-6.  제안 목표 및 성과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정성 목표를 정량 지표로 연결하여 사업 종료 시 달성 여부를 검증합니다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1554480"/>
            <a:ext cx="3657600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목표 1  업무 생산성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2103120"/>
            <a:ext cx="33832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200" b="1">
                <a:solidFill>
                  <a:srgbClr val="1A2233"/>
                </a:solidFill>
                <a:latin typeface="Malgun Gothic"/>
                <a:ea typeface="Malgun Gothic"/>
              </a:rPr>
              <a:t>정보 탐색 시간을 획기적으로 단축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94360" y="2971800"/>
            <a:ext cx="3383279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594360" y="3063240"/>
            <a:ext cx="3383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성과 지표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3383280"/>
            <a:ext cx="3383280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탐색 시간 [N%] 절감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4023360"/>
            <a:ext cx="3383280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담당자 문의 [N%] 감소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51960" y="155448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4251960" y="1554480"/>
            <a:ext cx="3657600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목표 2  답변 신뢰도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89120" y="2103120"/>
            <a:ext cx="33832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200" b="1">
                <a:solidFill>
                  <a:srgbClr val="1A2233"/>
                </a:solidFill>
                <a:latin typeface="Malgun Gothic"/>
                <a:ea typeface="Malgun Gothic"/>
              </a:rPr>
              <a:t>근거 기반의 정확한 답변 제공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389120" y="2971800"/>
            <a:ext cx="338328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4389120" y="3063240"/>
            <a:ext cx="3383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성과 지표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89120" y="3383280"/>
            <a:ext cx="3383280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정확도 [85%] 이상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89120" y="4023360"/>
            <a:ext cx="3383280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출처 포함률 [95%] 이상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46720" y="155448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8046720" y="1554480"/>
            <a:ext cx="3657600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목표 3  안전한 운영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83880" y="2103120"/>
            <a:ext cx="33832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1200" b="1">
                <a:solidFill>
                  <a:srgbClr val="1A2233"/>
                </a:solidFill>
                <a:latin typeface="Malgun Gothic"/>
                <a:ea typeface="Malgun Gothic"/>
              </a:rPr>
              <a:t>권한 · 보안 기준을 준수하는 AI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183880" y="2971800"/>
            <a:ext cx="338328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8183880" y="3063240"/>
            <a:ext cx="3383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성과 지표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83880" y="3383280"/>
            <a:ext cx="3383280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권한 위반 사고 0건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83880" y="4023360"/>
            <a:ext cx="3383280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감사 로그 100% 보관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Ⅰ-7.  사업 범위 (In-Scope / Out-of-Scope)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1차 사업 범위를 명확히 하여 범위 변경에 따른 일정 · 비용 리스크를 방지합니다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5559552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1554480"/>
            <a:ext cx="5559552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000" tIns="18000" bIns="18000"/>
          <a:lstStyle/>
          <a:p>
            <a:pPr algn="l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In-Scope (본 사업 포함)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" y="2194560"/>
            <a:ext cx="5120640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AI 질의응답 · 출처 · 권한 필터 (FN-01~04, 07)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관리자 기능 — 사용자 · 문서 · 임베딩 (FN-11, 12)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대시보드 · 알림 · 마이페이지 (FN-08~10)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[대상 게시판 N개 · 문서 N건] 임베딩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PC 웹 · [모바일 웹]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1554480"/>
            <a:ext cx="555955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1554480"/>
            <a:ext cx="5559552" cy="411480"/>
          </a:xfrm>
          <a:prstGeom prst="rect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000" tIns="18000" bIns="18000"/>
          <a:lstStyle/>
          <a:p>
            <a:pPr algn="l"/>
            <a:r>
              <a:rPr sz="1100" b="1">
                <a:solidFill>
                  <a:srgbClr val="1A2233"/>
                </a:solidFill>
                <a:latin typeface="Malgun Gothic"/>
                <a:ea typeface="Malgun Gothic"/>
              </a:rPr>
              <a:t>Out-of-Scope (제외 · 후속)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2194560"/>
            <a:ext cx="5120640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외부 시스템 쓰기 연동(결재 · 전표 등)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음성 · 이미지 생성 기능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해외 법인 별도 환경 구축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모델 자체 학습(Fine-tuning)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[고객사 협의 항목]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Ⅰ-8.  제안 방향 및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작게 시작해 검증하고 확장하는 단계적 전략으로 리스크를 줄이고 성과를 조기에 확인합니다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3666744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1554480"/>
            <a:ext cx="3666744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전략 1  핵심 먼저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2057400"/>
            <a:ext cx="3392424" cy="2834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질의응답 · 권한 · 출처에 집중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나머지는 후속 단계로 분리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가오픈으로 조기 검증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4937760"/>
            <a:ext cx="3392424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MVP 우선 릴리스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61104" y="1554480"/>
            <a:ext cx="3666744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4261104" y="1554480"/>
            <a:ext cx="3666744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전략 2  기존 자산 활용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98264" y="2057400"/>
            <a:ext cx="3392424" cy="2834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기존 SSO · 권한 · 게시판 연계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신규 개발 영역 최소화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표준 UI · 공통 컴포넌트 재사용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98264" y="4937760"/>
            <a:ext cx="3392424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구축 기간 단축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65008" y="1554480"/>
            <a:ext cx="3666744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8065008" y="1554480"/>
            <a:ext cx="3666744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전략 3  현업 참여형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02168" y="2057400"/>
            <a:ext cx="3392424" cy="2834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현업 대표단 요구 · 검증 참여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피드백 기반 정기 개선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교육 · 변경관리 병행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02168" y="4937760"/>
            <a:ext cx="3392424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활용 정착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Ⅰ-9.  추진 로드맵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1차 구축(MVP) → 가오픈 → 정식 오픈 → 고도화 → 확산의 5단계로 추진합니다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Pentagon 55"/>
          <p:cNvSpPr/>
          <p:nvPr/>
        </p:nvSpPr>
        <p:spPr>
          <a:xfrm>
            <a:off x="457200" y="1554480"/>
            <a:ext cx="2209190" cy="566928"/>
          </a:xfrm>
          <a:prstGeom prst="homePlat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1단계 분석 · 설계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M1~M2</a:t>
            </a:r>
          </a:p>
        </p:txBody>
      </p:sp>
      <p:sp>
        <p:nvSpPr>
          <p:cNvPr id="57" name="Pentagon 56"/>
          <p:cNvSpPr/>
          <p:nvPr/>
        </p:nvSpPr>
        <p:spPr>
          <a:xfrm>
            <a:off x="2712110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2단계 개발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M3~M5</a:t>
            </a:r>
          </a:p>
        </p:txBody>
      </p:sp>
      <p:sp>
        <p:nvSpPr>
          <p:cNvPr id="58" name="Pentagon 57"/>
          <p:cNvSpPr/>
          <p:nvPr/>
        </p:nvSpPr>
        <p:spPr>
          <a:xfrm>
            <a:off x="4967020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3단계 가오픈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M5~M6</a:t>
            </a:r>
          </a:p>
        </p:txBody>
      </p:sp>
      <p:sp>
        <p:nvSpPr>
          <p:cNvPr id="59" name="Pentagon 58"/>
          <p:cNvSpPr/>
          <p:nvPr/>
        </p:nvSpPr>
        <p:spPr>
          <a:xfrm>
            <a:off x="7221931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4단계 정식 오픈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M7</a:t>
            </a:r>
          </a:p>
        </p:txBody>
      </p:sp>
      <p:sp>
        <p:nvSpPr>
          <p:cNvPr id="60" name="Pentagon 59"/>
          <p:cNvSpPr/>
          <p:nvPr/>
        </p:nvSpPr>
        <p:spPr>
          <a:xfrm>
            <a:off x="9476841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5단계 고도화 · 확산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M8~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457200" y="2331720"/>
          <a:ext cx="11274552" cy="27614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1920240"/>
                <a:gridCol w="1920240"/>
                <a:gridCol w="1920240"/>
                <a:gridCol w="1920240"/>
                <a:gridCol w="222199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1단계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2단계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3단계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4단계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5단계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요구 확정 · 설계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핵심 기능 구현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소수 부서 검증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전사 오픈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기능 확대 · 확산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주요 과제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· 데이터 설계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· 연계 개발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피드백 · 튜닝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교육 · 안정화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대시보드 · 모바일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산출물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설계서 · 요구정의서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 완료 · 테스트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검증 결과 보고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오픈 · 운영 매뉴얼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확산 계획서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/>
        <p:txBody>
          <a:bodyPr/>
          <a:lstStyle/>
          <a:p>
            <a:r>
              <a:t>서비스 정의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누가 · 언제 · 무엇을 위해 사용하는지 서비스를 정의하고 핵심 기능을 도출합니다.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t>서비스 개요 · 사용자 · 여정</a:t>
            </a:r>
          </a:p>
          <a:p>
            <a:r>
              <a:t>핵심 기능 · 기능 구조</a:t>
            </a:r>
          </a:p>
          <a:p>
            <a:r>
              <a:t>사용 시나리오 · 우선순위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Ⅱ-1.  서비스 개요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AI Assistant는 임직원이 자연어로 묻고, 근거와 함께 답을 받는 사내 업무 지식 서비스입니다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11274552" cy="6400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비전  "묻는 즉시, 근거와 함께 답하는 사내 AI 동료"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2377440"/>
            <a:ext cx="3657600" cy="31089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2468880"/>
            <a:ext cx="33832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서비스 컨셉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94360" y="2834640"/>
            <a:ext cx="3383279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594360" y="2971800"/>
            <a:ext cx="338328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사내 문서 · 규정 · 공지 통합 검색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자연어 질의 → 요약 답변 + 출처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권한 내 정보만 응답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51960" y="2377440"/>
            <a:ext cx="3657600" cy="31089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4389120" y="2468880"/>
            <a:ext cx="33832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제공 가치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389120" y="2834640"/>
            <a:ext cx="338328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4389120" y="2971800"/>
            <a:ext cx="338328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임직원: 빠른 답변 · 시간 절감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관리자: 지식 · 품질 관리 용이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경영진: 활용 · 성과 가시화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46720" y="2377440"/>
            <a:ext cx="3657600" cy="31089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8183880" y="2468880"/>
            <a:ext cx="338328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서비스 채널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183880" y="2834640"/>
            <a:ext cx="338328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8183880" y="2971800"/>
            <a:ext cx="338328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PC 웹 (SSO 진입)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모바일 웹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그룹웨어 메뉴 연계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Ⅱ-2.  대상 사용자 및 페르소나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주요 사용자 유형별 목적과 불편을 정의하고, 서비스 설계의 기준으로 사용합니다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3657600" cy="39319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Oval 56"/>
          <p:cNvSpPr/>
          <p:nvPr/>
        </p:nvSpPr>
        <p:spPr>
          <a:xfrm>
            <a:off x="1737360" y="1691640"/>
            <a:ext cx="1097280" cy="10972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2880360"/>
            <a:ext cx="3383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김 사원 (일반 임직원)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3154680"/>
            <a:ext cx="33832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전 부서 · 약 [N]명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3520440"/>
            <a:ext cx="685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목표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25880" y="3520440"/>
            <a:ext cx="2651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규정 · 절차를 빠르게 확인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4160520"/>
            <a:ext cx="685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불편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25880" y="4160520"/>
            <a:ext cx="2651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게시판에서 못 찾고 선배에게 문의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800600"/>
            <a:ext cx="685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관련 기능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25880" y="4800600"/>
            <a:ext cx="2651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FN-02, 03, 04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51960" y="1554480"/>
            <a:ext cx="3657600" cy="39319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7" name="Oval 66"/>
          <p:cNvSpPr/>
          <p:nvPr/>
        </p:nvSpPr>
        <p:spPr>
          <a:xfrm>
            <a:off x="5532120" y="1691640"/>
            <a:ext cx="1097280" cy="10972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89120" y="2880360"/>
            <a:ext cx="3383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박 팀장 (경영진 · 리더)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89120" y="3154680"/>
            <a:ext cx="33832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팀장 · 임원 약 [N]명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89120" y="3520440"/>
            <a:ext cx="685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목표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20640" y="3520440"/>
            <a:ext cx="2651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이용 현황 · 성과 파악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89120" y="4160520"/>
            <a:ext cx="685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불편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20640" y="4160520"/>
            <a:ext cx="2651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활용도를 알 방법이 없음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89120" y="4800600"/>
            <a:ext cx="685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관련 기능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20640" y="4800600"/>
            <a:ext cx="2651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FN-08, 09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46720" y="1554480"/>
            <a:ext cx="3657600" cy="39319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7" name="Oval 76"/>
          <p:cNvSpPr/>
          <p:nvPr/>
        </p:nvSpPr>
        <p:spPr>
          <a:xfrm>
            <a:off x="9326880" y="1691640"/>
            <a:ext cx="1097280" cy="10972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8A93A5"/>
                </a:solidFill>
                <a:latin typeface="Malgun Gothic"/>
                <a:ea typeface="Malgun Gothic"/>
              </a:rPr>
              <a:t>사진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83880" y="2880360"/>
            <a:ext cx="3383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이 매니저 (관리자)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83880" y="3154680"/>
            <a:ext cx="33832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0">
                <a:solidFill>
                  <a:srgbClr val="5A6577"/>
                </a:solidFill>
                <a:latin typeface="Malgun Gothic"/>
                <a:ea typeface="Malgun Gothic"/>
              </a:rPr>
              <a:t>IT · 운영 약 [N]명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83880" y="3520440"/>
            <a:ext cx="685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목표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15400" y="3520440"/>
            <a:ext cx="2651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지식 · 사용자 · 품질 운영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83880" y="4160520"/>
            <a:ext cx="685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불편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15400" y="4160520"/>
            <a:ext cx="2651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문서 갱신 · 오류 대응이 수작업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183880" y="4800600"/>
            <a:ext cx="685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5A6577"/>
                </a:solidFill>
                <a:latin typeface="Malgun Gothic"/>
                <a:ea typeface="Malgun Gothic"/>
              </a:rPr>
              <a:t>관련 기능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15400" y="4800600"/>
            <a:ext cx="2651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FN-11, 12, 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Ⅱ-3.  사용자 여정 맵 (일반 임직원)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업무 중 정보가 필요한 순간부터 해결까지의 경험을 단계별로 정의하고 개선 기회를 도출합니다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79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80160"/>
                <a:gridCol w="2011680"/>
                <a:gridCol w="2011680"/>
                <a:gridCol w="2011680"/>
                <a:gridCol w="2011680"/>
                <a:gridCol w="194767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① 인지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② 접속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③ 질문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④ 답변 확인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⑤ 활용 · 피드백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행동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업무 중 규정 확인 필요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SSO로 서비스 진입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자연어로 질문 입력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답변 · 출처 확인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답변 평가, 업무 반영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생각 · 감정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"어디서 찾지?" (불안)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"로그인 번거롭지 않을까"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"제대로 답할까?"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"근거가 있어 믿을 만하다"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"다음에도 써야지"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접점 · 화면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그룹웨어 메뉴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AUTH-001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CHT-002-P1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Pain Point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찾기 어려움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추가 로그인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질문 방법 모호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출처 부족 시 불신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피드백 번거로움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개선 기회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메뉴 상시 노출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SSO 자동 진입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추천 질문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출처 · 인용 번호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원클릭 평가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Ⅱ-4.  핵심 기능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14개 핵심 기능을 도출하고 우선순위(P1~P3)와 화면 ID를 연결했습니다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FN-10~14는 다음 페이지(Ⅱ-5 기능 구조도) 및 요구사항 추적표(부록)에서 확인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4074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22960"/>
                <a:gridCol w="2194560"/>
                <a:gridCol w="3291840"/>
                <a:gridCol w="1828800"/>
                <a:gridCol w="1097280"/>
                <a:gridCol w="203911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기능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기능명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관련 화면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우선순위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릴리스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사용자 인증 · SSO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SSO 연동 로그인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AUTH-001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질의응답 (사내검색)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자연어 질문 → 요약 답변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CHT-001, 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출처 제시 · 권한 필터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근거 문서 · 권한 필터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대화 이력 · 세션 관리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대화 목록 · 재진입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웹검색 · 심층검색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외부 웹 · 심층 검색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1차~2차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파일 첨부 질의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 첨부 후 질의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1차~2차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피드백 수집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좋아요 · 싫어요 · 사유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CHT-002-P1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FN-08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경영진 대시보드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KPI · 추이 · 순위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DSH-001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1차~2차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FN-09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알림센터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공유 · 리포트 · 공지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NTF-001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1차~2차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Ⅱ-5.  기능 구조도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사용자 · 관리자 영역으로 구분하여 14개 기능을 구조화했습니다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AI Assistant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080760" y="1965960"/>
            <a:ext cx="0" cy="18288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540764" y="2148840"/>
            <a:ext cx="9107424" cy="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40764" y="2148840"/>
            <a:ext cx="0" cy="13716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457200" y="2286000"/>
            <a:ext cx="2167128" cy="411480"/>
          </a:xfrm>
          <a:prstGeom prst="rect">
            <a:avLst/>
          </a:prstGeom>
          <a:solidFill>
            <a:srgbClr val="F3F5F9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접속 · 인증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283464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FN-01 SSO 인증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33756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권한 확인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817620" y="2148840"/>
            <a:ext cx="0" cy="13716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2734056" y="2286000"/>
            <a:ext cx="2167128" cy="411480"/>
          </a:xfrm>
          <a:prstGeom prst="rect">
            <a:avLst/>
          </a:prstGeom>
          <a:solidFill>
            <a:srgbClr val="F3F5F9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AI 질의응답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34056" y="283464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FN-02 질의응답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34056" y="333756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FN-03 출처 · 권한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34056" y="384048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FN-04 이력 · 세션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34056" y="434340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FN-05 웹 · 심층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34056" y="484632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FN-06 파일 첨부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34056" y="534924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FN-07 피드백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094476" y="2148840"/>
            <a:ext cx="0" cy="13716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5010912" y="2286000"/>
            <a:ext cx="2167128" cy="411480"/>
          </a:xfrm>
          <a:prstGeom prst="rect">
            <a:avLst/>
          </a:prstGeom>
          <a:solidFill>
            <a:srgbClr val="F3F5F9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모니터링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10912" y="283464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FN-08 대시보드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10912" y="333756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FN-09 알림센터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371332" y="2148840"/>
            <a:ext cx="0" cy="13716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7287768" y="2286000"/>
            <a:ext cx="2167128" cy="411480"/>
          </a:xfrm>
          <a:prstGeom prst="rect">
            <a:avLst/>
          </a:prstGeom>
          <a:solidFill>
            <a:srgbClr val="F3F5F9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개인화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87768" y="283464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FN-10 마이페이지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87768" y="333756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FN-14 모바일 웹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0648188" y="2148840"/>
            <a:ext cx="0" cy="13716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9564624" y="2286000"/>
            <a:ext cx="2167128" cy="411480"/>
          </a:xfrm>
          <a:prstGeom prst="rect">
            <a:avLst/>
          </a:prstGeom>
          <a:solidFill>
            <a:srgbClr val="F3F5F9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관리자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564624" y="283464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FN-11 사용자 · 권한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564624" y="333756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FN-12 문서 · 임베딩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564624" y="384048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FN-13 로그 · 통계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Ⅱ-6.  사용 시나리오 ① 규정 질의응답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일반 임직원이 규정을 질문하고 근거와 함께 답을 받는 대표 시나리오입니다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시나리오별 상세 화면은 화면설계서 Ⅱ-2, Ⅱ-1 참조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Pentagon 55"/>
          <p:cNvSpPr/>
          <p:nvPr/>
        </p:nvSpPr>
        <p:spPr>
          <a:xfrm>
            <a:off x="457200" y="1554480"/>
            <a:ext cx="2209190" cy="566928"/>
          </a:xfrm>
          <a:prstGeom prst="homePlat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접속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SSO 자동 로그인</a:t>
            </a:r>
          </a:p>
        </p:txBody>
      </p:sp>
      <p:sp>
        <p:nvSpPr>
          <p:cNvPr id="57" name="Pentagon 56"/>
          <p:cNvSpPr/>
          <p:nvPr/>
        </p:nvSpPr>
        <p:spPr>
          <a:xfrm>
            <a:off x="2712110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질문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"연차 사용 기한은?"</a:t>
            </a:r>
          </a:p>
        </p:txBody>
      </p:sp>
      <p:sp>
        <p:nvSpPr>
          <p:cNvPr id="58" name="Pentagon 57"/>
          <p:cNvSpPr/>
          <p:nvPr/>
        </p:nvSpPr>
        <p:spPr>
          <a:xfrm>
            <a:off x="4967020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처리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검색 → 권한 → 생성</a:t>
            </a:r>
          </a:p>
        </p:txBody>
      </p:sp>
      <p:sp>
        <p:nvSpPr>
          <p:cNvPr id="59" name="Pentagon 58"/>
          <p:cNvSpPr/>
          <p:nvPr/>
        </p:nvSpPr>
        <p:spPr>
          <a:xfrm>
            <a:off x="7221931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답변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요약 + 인용 번호</a:t>
            </a:r>
          </a:p>
        </p:txBody>
      </p:sp>
      <p:sp>
        <p:nvSpPr>
          <p:cNvPr id="60" name="Pentagon 59"/>
          <p:cNvSpPr/>
          <p:nvPr/>
        </p:nvSpPr>
        <p:spPr>
          <a:xfrm>
            <a:off x="9476841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확인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출처 열람 · 평가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457200" y="2331720"/>
          <a:ext cx="11274552" cy="27614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97280"/>
                <a:gridCol w="2377440"/>
                <a:gridCol w="2926080"/>
                <a:gridCol w="2377440"/>
                <a:gridCol w="249631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사용자 행동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시스템 동작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· 기능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예외 처리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질문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자연어 입력 후 전송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의도 · 언어 분석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CHT-001 / FN-02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빈 입력 시 전송 비활성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답변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답변 · 출처 확인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권한 필터 후 근거 생성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CHT-002 / FN-03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결과 0건 시 안내 문구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평가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좋아요 · 싫어요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사유 수집 · 로그 저장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CHT-002-P1 / FN-07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중복 평가 방지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Ⅱ-7.  사용 시나리오 ② 경영진 모니터링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경영진이 이용 현황과 성과 지표를 확인하고 알림을 받는 시나리오입니다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Pentagon 55"/>
          <p:cNvSpPr/>
          <p:nvPr/>
        </p:nvSpPr>
        <p:spPr>
          <a:xfrm>
            <a:off x="457200" y="1554480"/>
            <a:ext cx="2209190" cy="566928"/>
          </a:xfrm>
          <a:prstGeom prst="homePlat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접속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SSO 로그인</a:t>
            </a:r>
          </a:p>
        </p:txBody>
      </p:sp>
      <p:sp>
        <p:nvSpPr>
          <p:cNvPr id="57" name="Pentagon 56"/>
          <p:cNvSpPr/>
          <p:nvPr/>
        </p:nvSpPr>
        <p:spPr>
          <a:xfrm>
            <a:off x="2712110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현황 확인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대시보드 KPI</a:t>
            </a:r>
          </a:p>
        </p:txBody>
      </p:sp>
      <p:sp>
        <p:nvSpPr>
          <p:cNvPr id="58" name="Pentagon 57"/>
          <p:cNvSpPr/>
          <p:nvPr/>
        </p:nvSpPr>
        <p:spPr>
          <a:xfrm>
            <a:off x="4967020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추이 분석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기간 · 추이 차트</a:t>
            </a:r>
          </a:p>
        </p:txBody>
      </p:sp>
      <p:sp>
        <p:nvSpPr>
          <p:cNvPr id="59" name="Pentagon 58"/>
          <p:cNvSpPr/>
          <p:nvPr/>
        </p:nvSpPr>
        <p:spPr>
          <a:xfrm>
            <a:off x="7221931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이슈 확인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피드백 · 미해결</a:t>
            </a:r>
          </a:p>
        </p:txBody>
      </p:sp>
      <p:sp>
        <p:nvSpPr>
          <p:cNvPr id="60" name="Pentagon 59"/>
          <p:cNvSpPr/>
          <p:nvPr/>
        </p:nvSpPr>
        <p:spPr>
          <a:xfrm>
            <a:off x="9476841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알림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주간 리포트 수신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457200" y="2331720"/>
          <a:ext cx="11274552" cy="27614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97280"/>
                <a:gridCol w="2377440"/>
                <a:gridCol w="2926080"/>
                <a:gridCol w="2377440"/>
                <a:gridCol w="249631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사용자 행동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시스템 동작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· 기능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예외 처리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기간 설정 후 조회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집계 데이터 조회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DSH-001 / FN-08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집계 전이면 전일 기준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이슈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싫어요 피드백 확인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사유별 집계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DSH-001 / FN-08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개인정보 마스킹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알림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리포트 알림 수신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배치 후 알림 발송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NTF-001 / FN-09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0건이면 미발송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Ⅱ-8.  사용 시나리오 ③ 관리자 운영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관리자가 사용자 · 문서 · 임베딩 · 로그를 관리하는 운영 시나리오입니다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Pentagon 55"/>
          <p:cNvSpPr/>
          <p:nvPr/>
        </p:nvSpPr>
        <p:spPr>
          <a:xfrm>
            <a:off x="457200" y="1554480"/>
            <a:ext cx="2209190" cy="566928"/>
          </a:xfrm>
          <a:prstGeom prst="homePlat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권한 부여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사용자 · 역할</a:t>
            </a:r>
          </a:p>
        </p:txBody>
      </p:sp>
      <p:sp>
        <p:nvSpPr>
          <p:cNvPr id="57" name="Pentagon 56"/>
          <p:cNvSpPr/>
          <p:nvPr/>
        </p:nvSpPr>
        <p:spPr>
          <a:xfrm>
            <a:off x="2712110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문서 등록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게시판 · 공개 설정</a:t>
            </a:r>
          </a:p>
        </p:txBody>
      </p:sp>
      <p:sp>
        <p:nvSpPr>
          <p:cNvPr id="58" name="Pentagon 57"/>
          <p:cNvSpPr/>
          <p:nvPr/>
        </p:nvSpPr>
        <p:spPr>
          <a:xfrm>
            <a:off x="4967020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임베딩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자동 · 수동 · 재실행</a:t>
            </a:r>
          </a:p>
        </p:txBody>
      </p:sp>
      <p:sp>
        <p:nvSpPr>
          <p:cNvPr id="59" name="Pentagon 58"/>
          <p:cNvSpPr/>
          <p:nvPr/>
        </p:nvSpPr>
        <p:spPr>
          <a:xfrm>
            <a:off x="7221931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오류 대응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실패 건 재처리</a:t>
            </a:r>
          </a:p>
        </p:txBody>
      </p:sp>
      <p:sp>
        <p:nvSpPr>
          <p:cNvPr id="60" name="Pentagon 59"/>
          <p:cNvSpPr/>
          <p:nvPr/>
        </p:nvSpPr>
        <p:spPr>
          <a:xfrm>
            <a:off x="9476841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로그 점검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질의 · 피드백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457200" y="2331720"/>
          <a:ext cx="11274552" cy="27614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97280"/>
                <a:gridCol w="2377440"/>
                <a:gridCol w="2926080"/>
                <a:gridCol w="2377440"/>
                <a:gridCol w="249631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관리자 행동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시스템 동작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· 기능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예외 처리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권한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역할 · 메뉴 권한 설정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변경 이력 기록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ADM-010 / FN-11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본인 관리자 권한 해제 불가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임베딩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대상 게시판 공개 설정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배치 임베딩 실행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ADM-020 / FN-12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실패 시 재실행 안내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로그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기간 · 사용자 조회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로그 조회 · 다운로드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ADM-030 / FN-13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개인정보 마스킹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Ⅱ-9.  기능 우선순위 및 릴리스 계획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필수(P1) 기능을 1차 릴리스에 집중하고 P2 · P3는 단계적으로 제공합니다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28986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3108960"/>
                <a:gridCol w="1645920"/>
                <a:gridCol w="2926080"/>
                <a:gridCol w="213055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릴리스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포함 기능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목표 시점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선정 기준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비고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1차 (MVP)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FN-01, 02, 03, 04, 07, 11, 12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M6 가오픈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P1: 핵심 가치 · 보안 필수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소수 부서 검증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1차 정식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FN-05, 06, 08, 09, 10, 13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M7 정식 오픈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P2: 활용도 · 운영 편의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전사 오픈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FN-14 및 고도화 과제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M8 이후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P3: 확산 · 편의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[고객사 협의]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/>
        <p:txBody>
          <a:bodyPr/>
          <a:lstStyle/>
          <a:p>
            <a:r>
              <a:t>구축 방안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아키텍처 · 데이터 · AI · UX · 보안 · 인프라 · 운영 방안을 제시합니다.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t>아키텍처 · 데이터 · AI</a:t>
            </a:r>
          </a:p>
          <a:p>
            <a:r>
              <a:t>UX · 화면 설계 방향</a:t>
            </a:r>
          </a:p>
          <a:p>
            <a:r>
              <a:t>보안 · 권한 · 인프라 · 운영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Ⅲ-1.  구축 범위 및 아키텍처 개요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데이터 연계 · AI 서비스 · 사용자 채널 세 영역으로 구성하고, 기존 시스템을 최대한 활용합니다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08760"/>
            <a:ext cx="3840480" cy="36118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Oval 56"/>
          <p:cNvSpPr/>
          <p:nvPr/>
        </p:nvSpPr>
        <p:spPr>
          <a:xfrm>
            <a:off x="566928" y="1600200"/>
            <a:ext cx="274320" cy="2743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1600200"/>
            <a:ext cx="3291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데이터 연계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6928" y="1965960"/>
            <a:ext cx="3621024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594360" y="2148840"/>
            <a:ext cx="3566160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그룹웨어 · 게시판 문서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4360" y="3017520"/>
            <a:ext cx="3566160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인사 DB (조직 · 사용자)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4360" y="3886200"/>
            <a:ext cx="3566160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SSO · 계정 연동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480560" y="1508760"/>
            <a:ext cx="4023360" cy="36118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Oval 63"/>
          <p:cNvSpPr/>
          <p:nvPr/>
        </p:nvSpPr>
        <p:spPr>
          <a:xfrm>
            <a:off x="4590288" y="1600200"/>
            <a:ext cx="274320" cy="2743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37760" y="1600200"/>
            <a:ext cx="34747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AI 서비스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590288" y="1965960"/>
            <a:ext cx="3803904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4617720" y="2148840"/>
            <a:ext cx="3749040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질의 분석 · 검색 · 생성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617720" y="3017520"/>
            <a:ext cx="3749040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권한 필터 · 출처 검증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617720" y="3886200"/>
            <a:ext cx="3749040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피드백 · 로그 · 배치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86800" y="1508760"/>
            <a:ext cx="3044952" cy="36118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1" name="Oval 70"/>
          <p:cNvSpPr/>
          <p:nvPr/>
        </p:nvSpPr>
        <p:spPr>
          <a:xfrm>
            <a:off x="8796528" y="1600200"/>
            <a:ext cx="274320" cy="2743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44000" y="1600200"/>
            <a:ext cx="249631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사용자 채널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796528" y="1965960"/>
            <a:ext cx="2825496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8823960" y="2148840"/>
            <a:ext cx="2770632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PC 웹 · 모바일 웹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823960" y="3017520"/>
            <a:ext cx="2770632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관리자 콘솔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23960" y="3886200"/>
            <a:ext cx="2770632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00" b="0">
                <a:solidFill>
                  <a:srgbClr val="1A2233"/>
                </a:solidFill>
                <a:latin typeface="Malgun Gothic"/>
                <a:ea typeface="Malgun Gothic"/>
              </a:rPr>
              <a:t>알림(메일 · 팝업)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97680" y="3108960"/>
            <a:ext cx="228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0">
                <a:solidFill>
                  <a:srgbClr val="8A93A5"/>
                </a:solidFill>
                <a:latin typeface="Malgun Gothic"/>
                <a:ea typeface="Malgun Gothic"/>
              </a:rPr>
              <a:t>▶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03919" y="3108960"/>
            <a:ext cx="228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0">
                <a:solidFill>
                  <a:srgbClr val="8A93A5"/>
                </a:solidFill>
                <a:latin typeface="Malgun Gothic"/>
                <a:ea typeface="Malgun Gothic"/>
              </a:rPr>
              <a:t>▶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7200" y="530352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사내망 · 전용 환경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91840" y="530352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SSO · 권한 연동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26480" y="530352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암호화 · 마스킹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961120" y="530352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모니터링 · 감사 로그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Ⅲ-2.  시스템 구성도 (논리)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채널 · 프레젠테이션 · 서비스 · AI 엔진 · 데이터 5계층으로 구성합니다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남색 테두리 = 신규 개발 / 회색 = 기존 · 외부 시스템 (화면설계서 Ⅳ-1과 동일)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08760"/>
            <a:ext cx="8869680" cy="768096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1508760"/>
            <a:ext cx="1280160" cy="76809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사용자 채널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74519" y="1645919"/>
            <a:ext cx="231647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웹 브라우저 (PC)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28159" y="1645919"/>
            <a:ext cx="231647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모바일 웹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781799" y="1645919"/>
            <a:ext cx="231647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그룹웨어 연계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2368296"/>
            <a:ext cx="8869680" cy="768096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2368296"/>
            <a:ext cx="1280160" cy="76809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프레젠테이션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874519" y="2505456"/>
            <a:ext cx="231647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챗봇 UI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328159" y="2505456"/>
            <a:ext cx="231647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대시보드 UI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781799" y="2505456"/>
            <a:ext cx="231647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관리자 UI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227832"/>
            <a:ext cx="8869680" cy="768096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227832"/>
            <a:ext cx="1280160" cy="76809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서비스 API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874519" y="3364992"/>
            <a:ext cx="170306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인증 · 권한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714750" y="3364992"/>
            <a:ext cx="170306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대화 · 세션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554979" y="3364992"/>
            <a:ext cx="170306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검색 오케스트레이션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95209" y="3364992"/>
            <a:ext cx="170306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알림 · 배치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4087368"/>
            <a:ext cx="8869680" cy="768096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4087368"/>
            <a:ext cx="1280160" cy="76809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AI 엔진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874519" y="4224528"/>
            <a:ext cx="170306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LLM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714750" y="4224528"/>
            <a:ext cx="170306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임베딩 · 리랭커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554979" y="4224528"/>
            <a:ext cx="170306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가드레일 · 마스킹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95209" y="4224528"/>
            <a:ext cx="170306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프롬프트 관리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946904"/>
            <a:ext cx="8869680" cy="768096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946904"/>
            <a:ext cx="1280160" cy="76809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데이터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874519" y="5084064"/>
            <a:ext cx="170306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벡터 DB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714750" y="5084064"/>
            <a:ext cx="170306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RDB (사용자 · 로그)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554979" y="5084064"/>
            <a:ext cx="170306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파일 스토리지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95209" y="5084064"/>
            <a:ext cx="1703069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공통코드 · 캐시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46920" y="1508760"/>
            <a:ext cx="2084831" cy="310896"/>
          </a:xfrm>
          <a:prstGeom prst="rect">
            <a:avLst/>
          </a:prstGeom>
          <a:solidFill>
            <a:srgbClr val="5A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기존 · 외부 시스템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646920" y="1920240"/>
            <a:ext cx="2084831" cy="56692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0">
                <a:solidFill>
                  <a:srgbClr val="5A6577"/>
                </a:solidFill>
                <a:latin typeface="Malgun Gothic"/>
                <a:ea typeface="Malgun Gothic"/>
              </a:rPr>
              <a:t>SSO · 그룹웨어</a:t>
            </a:r>
          </a:p>
        </p:txBody>
      </p:sp>
      <p:cxnSp>
        <p:nvCxnSpPr>
          <p:cNvPr id="86" name="Connector 85"/>
          <p:cNvCxnSpPr/>
          <p:nvPr/>
        </p:nvCxnSpPr>
        <p:spPr>
          <a:xfrm flipH="1">
            <a:off x="9372600" y="2203704"/>
            <a:ext cx="274320" cy="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9646920" y="2651760"/>
            <a:ext cx="2084831" cy="56692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0">
                <a:solidFill>
                  <a:srgbClr val="5A6577"/>
                </a:solidFill>
                <a:latin typeface="Malgun Gothic"/>
                <a:ea typeface="Malgun Gothic"/>
              </a:rPr>
              <a:t>사내 게시판 · 문서</a:t>
            </a:r>
          </a:p>
        </p:txBody>
      </p:sp>
      <p:cxnSp>
        <p:nvCxnSpPr>
          <p:cNvPr id="88" name="Connector 87"/>
          <p:cNvCxnSpPr/>
          <p:nvPr/>
        </p:nvCxnSpPr>
        <p:spPr>
          <a:xfrm flipH="1">
            <a:off x="9372600" y="2935224"/>
            <a:ext cx="274320" cy="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9646920" y="3383280"/>
            <a:ext cx="2084831" cy="56692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0">
                <a:solidFill>
                  <a:srgbClr val="5A6577"/>
                </a:solidFill>
                <a:latin typeface="Malgun Gothic"/>
                <a:ea typeface="Malgun Gothic"/>
              </a:rPr>
              <a:t>인사 DB</a:t>
            </a:r>
          </a:p>
        </p:txBody>
      </p:sp>
      <p:cxnSp>
        <p:nvCxnSpPr>
          <p:cNvPr id="90" name="Connector 89"/>
          <p:cNvCxnSpPr/>
          <p:nvPr/>
        </p:nvCxnSpPr>
        <p:spPr>
          <a:xfrm flipH="1">
            <a:off x="9372600" y="3666744"/>
            <a:ext cx="274320" cy="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9646920" y="4114800"/>
            <a:ext cx="2084831" cy="566928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50" b="0">
                <a:solidFill>
                  <a:srgbClr val="5A6577"/>
                </a:solidFill>
                <a:latin typeface="Malgun Gothic"/>
                <a:ea typeface="Malgun Gothic"/>
              </a:rPr>
              <a:t>외부 API</a:t>
            </a:r>
          </a:p>
        </p:txBody>
      </p:sp>
      <p:cxnSp>
        <p:nvCxnSpPr>
          <p:cNvPr id="92" name="Connector 91"/>
          <p:cNvCxnSpPr/>
          <p:nvPr/>
        </p:nvCxnSpPr>
        <p:spPr>
          <a:xfrm flipH="1">
            <a:off x="9372600" y="4398264"/>
            <a:ext cx="274320" cy="0"/>
          </a:xfrm>
          <a:prstGeom prst="line">
            <a:avLst/>
          </a:prstGeom>
          <a:ln w="12700">
            <a:solidFill>
              <a:srgbClr val="8A93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Ⅲ-3.  데이터 아키텍처 및 처리 파이프라인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문서를 수집 · 정제 · 임베딩하여 검색 가능한 지식으로 만드는 데이터 흐름입니다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임베딩 작업 상태는 관리자 화면 ADM-020에서 모니터링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Pentagon 55"/>
          <p:cNvSpPr/>
          <p:nvPr/>
        </p:nvSpPr>
        <p:spPr>
          <a:xfrm>
            <a:off x="457200" y="1554480"/>
            <a:ext cx="2209190" cy="566928"/>
          </a:xfrm>
          <a:prstGeom prst="homePlat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① 수집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게시판 · 문서</a:t>
            </a:r>
          </a:p>
        </p:txBody>
      </p:sp>
      <p:sp>
        <p:nvSpPr>
          <p:cNvPr id="57" name="Pentagon 56"/>
          <p:cNvSpPr/>
          <p:nvPr/>
        </p:nvSpPr>
        <p:spPr>
          <a:xfrm>
            <a:off x="2712110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② 전처리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OCR · 정제 · 분할</a:t>
            </a:r>
          </a:p>
        </p:txBody>
      </p:sp>
      <p:sp>
        <p:nvSpPr>
          <p:cNvPr id="58" name="Pentagon 57"/>
          <p:cNvSpPr/>
          <p:nvPr/>
        </p:nvSpPr>
        <p:spPr>
          <a:xfrm>
            <a:off x="4967020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③ 임베딩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벡터 변환</a:t>
            </a:r>
          </a:p>
        </p:txBody>
      </p:sp>
      <p:sp>
        <p:nvSpPr>
          <p:cNvPr id="59" name="Pentagon 58"/>
          <p:cNvSpPr/>
          <p:nvPr/>
        </p:nvSpPr>
        <p:spPr>
          <a:xfrm>
            <a:off x="7221931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④ 색인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벡터 DB 적재</a:t>
            </a:r>
          </a:p>
        </p:txBody>
      </p:sp>
      <p:sp>
        <p:nvSpPr>
          <p:cNvPr id="60" name="Pentagon 59"/>
          <p:cNvSpPr/>
          <p:nvPr/>
        </p:nvSpPr>
        <p:spPr>
          <a:xfrm>
            <a:off x="9476841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⑤ 검색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질의 시 조회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457200" y="2331720"/>
          <a:ext cx="11274552" cy="27614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720"/>
                <a:gridCol w="3200400"/>
                <a:gridCol w="2286000"/>
                <a:gridCol w="2286000"/>
                <a:gridCol w="231343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처리 내용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주기 · 방식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산출 · 저장소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오류 처리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수집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대상 게시판 문서 · 메타 추출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매일 [01:20] 배치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원본 저장소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실패 건 재수집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전처리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 변환 · 청크 분할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수집 직후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청크 데이터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형식 오류 격리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임베딩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벡터 변환 · 권한 메타 부여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자동 · 수동 · 재실행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벡터 DB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실패 시 재실행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Ⅲ-4.  AI 엔진 구성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답변 품질과 안전성을 위해 검색 · 생성 · 검증 컴포넌트를 분리하여 구성합니다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3840480"/>
                <a:gridCol w="3108960"/>
                <a:gridCol w="249631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컴포넌트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역할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후보 · 선정 기준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비고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질의 분석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의도 · 언어 판단, 질의 재작성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[경량 LLM / 룰]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다국어 대응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검색(Retriever)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벡터 + 키워드 하이브리드 검색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[벡터 DB 제품]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권한 메타 필터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리랭커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검색 결과 재정렬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[리랭크 모델]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정확도 향상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생성(LLM)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근거 기반 답변 생성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[모델 · 버전]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전용 환경 호출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검증 · 가드레일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출처 인용 확인 · 금칙어 · 마스킹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[룰 + 모델]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할루시네이션 억제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프롬프트 관리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시스템 · 응답 프롬프트 버전 관리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[관리 도구]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변경 이력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Ⅲ-5.  AI 처리 흐름 (RAG)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질의 입력부터 답변 · 출처 반환까지 6단계로 처리하며, 단계별 상태를 화면에 표시합니다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Pentagon 55"/>
          <p:cNvSpPr/>
          <p:nvPr/>
        </p:nvSpPr>
        <p:spPr>
          <a:xfrm>
            <a:off x="457200" y="1554480"/>
            <a:ext cx="1833372" cy="566928"/>
          </a:xfrm>
          <a:prstGeom prst="homePlat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① 질의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입력 · 첨부</a:t>
            </a:r>
          </a:p>
        </p:txBody>
      </p:sp>
      <p:sp>
        <p:nvSpPr>
          <p:cNvPr id="57" name="Pentagon 56"/>
          <p:cNvSpPr/>
          <p:nvPr/>
        </p:nvSpPr>
        <p:spPr>
          <a:xfrm>
            <a:off x="2336292" y="1554480"/>
            <a:ext cx="1833372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② 분석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의도 · 언어</a:t>
            </a:r>
          </a:p>
        </p:txBody>
      </p:sp>
      <p:sp>
        <p:nvSpPr>
          <p:cNvPr id="58" name="Pentagon 57"/>
          <p:cNvSpPr/>
          <p:nvPr/>
        </p:nvSpPr>
        <p:spPr>
          <a:xfrm>
            <a:off x="4215384" y="1554480"/>
            <a:ext cx="1833372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③ 검색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벡터 + 키워드</a:t>
            </a:r>
          </a:p>
        </p:txBody>
      </p:sp>
      <p:sp>
        <p:nvSpPr>
          <p:cNvPr id="59" name="Pentagon 58"/>
          <p:cNvSpPr/>
          <p:nvPr/>
        </p:nvSpPr>
        <p:spPr>
          <a:xfrm>
            <a:off x="6094476" y="1554480"/>
            <a:ext cx="1833372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④ 권한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열람 필터</a:t>
            </a:r>
          </a:p>
        </p:txBody>
      </p:sp>
      <p:sp>
        <p:nvSpPr>
          <p:cNvPr id="60" name="Pentagon 59"/>
          <p:cNvSpPr/>
          <p:nvPr/>
        </p:nvSpPr>
        <p:spPr>
          <a:xfrm>
            <a:off x="7973568" y="1554480"/>
            <a:ext cx="1833372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⑤ 생성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LLM + 근거</a:t>
            </a:r>
          </a:p>
        </p:txBody>
      </p:sp>
      <p:sp>
        <p:nvSpPr>
          <p:cNvPr id="61" name="Pentagon 60"/>
          <p:cNvSpPr/>
          <p:nvPr/>
        </p:nvSpPr>
        <p:spPr>
          <a:xfrm>
            <a:off x="9852660" y="1554480"/>
            <a:ext cx="1833372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⑥ 검증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출처 확인 · 응답</a:t>
            </a:r>
          </a:p>
        </p:txBody>
      </p: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457200" y="2331720"/>
          <a:ext cx="11274552" cy="35844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720"/>
                <a:gridCol w="2103120"/>
                <a:gridCol w="2926080"/>
                <a:gridCol w="2286000"/>
                <a:gridCol w="277063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입력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처리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출력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실패 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③ 검색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정제 질의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하이브리드 검색 Top-K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후보 문서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0건 → 안내 문구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④ 권한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후보 문서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사용자 권한 대조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허용 문서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전부 제외 → 권한 안내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⑤ 생성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허용 문서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프롬프트 + LLM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답변 초안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타임아웃 → 재시도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⑥ 검증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답변 · 근거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인용 일치 검증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최종 답변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불일치 → 근거 재선정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Ⅲ-6.  지식 · 용어 사전 구축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사내 용어 · 약어 · 부서명을 사전화하여 현장 표현으로 질문해도 정확한 문서를 찾도록 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52120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용어 사전 구성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1792224"/>
            <a:ext cx="576072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5797296" y="152704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457200" y="1920240"/>
          <a:ext cx="5760720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1463040"/>
                <a:gridCol w="1371600"/>
                <a:gridCol w="155448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표준 용어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동의어 · 약어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영문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비고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연차휴가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연차, 휴가, 연휴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Annual Leave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인사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재택근무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WFH, 원격근무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Remote Work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인사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출장비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출장경비, 여비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Travel Expense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재무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검색증강생성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Rectangle 59"/>
          <p:cNvSpPr/>
          <p:nvPr/>
        </p:nvSpPr>
        <p:spPr>
          <a:xfrm>
            <a:off x="6492240" y="1463040"/>
            <a:ext cx="469087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구축 절차 · 역할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492240" y="1792224"/>
            <a:ext cx="523951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6492240" y="1920240"/>
            <a:ext cx="5239512" cy="685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3" name="Oval 62"/>
          <p:cNvSpPr/>
          <p:nvPr/>
        </p:nvSpPr>
        <p:spPr>
          <a:xfrm>
            <a:off x="6629400" y="2048256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40880" y="1993392"/>
            <a:ext cx="3200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00" b="1">
                <a:solidFill>
                  <a:srgbClr val="1A2233"/>
                </a:solidFill>
                <a:latin typeface="Malgun Gothic"/>
                <a:ea typeface="Malgun Gothic"/>
              </a:rPr>
              <a:t>용어 추출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40880" y="2231136"/>
            <a:ext cx="3200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문서 · 질의 로그에서 후보 추출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332720" y="2103120"/>
            <a:ext cx="1280160" cy="201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1B2A4A"/>
                </a:solidFill>
                <a:latin typeface="Malgun Gothic"/>
                <a:ea typeface="Malgun Gothic"/>
              </a:rPr>
              <a:t>[제안사]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92240" y="2697480"/>
            <a:ext cx="5239512" cy="685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8" name="Oval 67"/>
          <p:cNvSpPr/>
          <p:nvPr/>
        </p:nvSpPr>
        <p:spPr>
          <a:xfrm>
            <a:off x="6629400" y="2825496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40880" y="2770632"/>
            <a:ext cx="3200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00" b="1">
                <a:solidFill>
                  <a:srgbClr val="1A2233"/>
                </a:solidFill>
                <a:latin typeface="Malgun Gothic"/>
                <a:ea typeface="Malgun Gothic"/>
              </a:rPr>
              <a:t>현업 검증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40880" y="3008376"/>
            <a:ext cx="3200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부서별 용어 · 약어 확인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332720" y="2880360"/>
            <a:ext cx="1280160" cy="201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1B2A4A"/>
                </a:solidFill>
                <a:latin typeface="Malgun Gothic"/>
                <a:ea typeface="Malgun Gothic"/>
              </a:rPr>
              <a:t>[고객사]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92240" y="3474720"/>
            <a:ext cx="5239512" cy="685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3" name="Oval 72"/>
          <p:cNvSpPr/>
          <p:nvPr/>
        </p:nvSpPr>
        <p:spPr>
          <a:xfrm>
            <a:off x="6629400" y="3602736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40880" y="3547872"/>
            <a:ext cx="3200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00" b="1">
                <a:solidFill>
                  <a:srgbClr val="1A2233"/>
                </a:solidFill>
                <a:latin typeface="Malgun Gothic"/>
                <a:ea typeface="Malgun Gothic"/>
              </a:rPr>
              <a:t>매핑 · 등록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40880" y="3785616"/>
            <a:ext cx="3200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관리자 화면(ADM)에서 등록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332720" y="3657600"/>
            <a:ext cx="1280160" cy="201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1B2A4A"/>
                </a:solidFill>
                <a:latin typeface="Malgun Gothic"/>
                <a:ea typeface="Malgun Gothic"/>
              </a:rPr>
              <a:t>공동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92240" y="4251960"/>
            <a:ext cx="5239512" cy="6858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8" name="Oval 77"/>
          <p:cNvSpPr/>
          <p:nvPr/>
        </p:nvSpPr>
        <p:spPr>
          <a:xfrm>
            <a:off x="6629400" y="4379976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040880" y="4325112"/>
            <a:ext cx="3200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00" b="1">
                <a:solidFill>
                  <a:srgbClr val="1A2233"/>
                </a:solidFill>
                <a:latin typeface="Malgun Gothic"/>
                <a:ea typeface="Malgun Gothic"/>
              </a:rPr>
              <a:t>운영 관리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40880" y="4562856"/>
            <a:ext cx="3200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신규 용어 월 1회 반영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332720" y="4434840"/>
            <a:ext cx="1280160" cy="201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1B2A4A"/>
                </a:solidFill>
                <a:latin typeface="Malgun Gothic"/>
                <a:ea typeface="Malgun Gothic"/>
              </a:rPr>
              <a:t>[운영]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ctr"/>
            <a:r>
              <a:rPr sz="1100" b="1">
                <a:solidFill>
                  <a:srgbClr val="1B2A4A"/>
                </a:solidFill>
                <a:latin typeface="Malgun Gothic"/>
                <a:ea typeface="Malgun Gothic"/>
              </a:rPr>
              <a:t>"WFH 신청 방법?" → 용어 사전 매핑(재택근무) → 재택근무 규정 검색 → 근거 포함 답변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Ⅲ-7.  데이터 연계 방안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기존 시스템과의 연계 항목을 방식 · 주기 · 오류 처리까지 정의합니다 (상세는 화면설계서 연계 정의서)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79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22960"/>
                <a:gridCol w="2011680"/>
                <a:gridCol w="2011680"/>
                <a:gridCol w="1645920"/>
                <a:gridCol w="1005840"/>
                <a:gridCol w="1645920"/>
                <a:gridCol w="213055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연계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연계명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대상 시스템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방식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방향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주기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비고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IF-001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사용자 인증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SSO · 그룹웨어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SSO / API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수신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로그인 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토큰 검증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IF-002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 검색 · 메타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사내 게시판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REST API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송 · 수신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배치 · 실시간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권한 메타 포함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IF-003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조직 · 사용자 동기화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인사 DB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DB Link / API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수신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매일 03:00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퇴직자 반영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IF-004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알림 메일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메일 서버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SMTP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송신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이벤트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수신 거부 관리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IF-005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외부 검색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웹 검색 API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REST API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송 · 수신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질의 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웹검색 모드만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Ⅲ-8.  UX 설계 원칙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누구나 설명 없이 쓸 수 있는 단순함과, 관리자가 신뢰하고 운영할 수 있는 투명함을 설계 원칙으로 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271576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1554480"/>
            <a:ext cx="2715768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원칙 1  단순함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2057400"/>
            <a:ext cx="2441448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한 화면 · 한 목적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질문창 중심의 첫 화면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추천 질문으로 진입 장벽 해소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10128" y="1554480"/>
            <a:ext cx="271576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3310128" y="1554480"/>
            <a:ext cx="2715768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원칙 2  투명함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47288" y="2057400"/>
            <a:ext cx="2441448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처리 단계 · 출처 상시 노출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오류 · 권한 상태를 명확히 안내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AI 한계 고지 문구 상시 표시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63056" y="1554480"/>
            <a:ext cx="271576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6163056" y="1554480"/>
            <a:ext cx="2715768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원칙 3  일관성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0216" y="2057400"/>
            <a:ext cx="2441448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공통 컴포넌트 · 표기 규칙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상태(로딩 · 빈 값 · 오류) 표준화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PC · 모바일 동일 경험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15984" y="1554480"/>
            <a:ext cx="271576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9015984" y="1554480"/>
            <a:ext cx="2715768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원칙 4  접근성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53144" y="2057400"/>
            <a:ext cx="2441448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키보드 · 색 대비 준수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다국어(한 · 영 · 중)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WCAG 2.1 AA 목표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Ⅲ-9.  메뉴 구조 (정보 구조, IA)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사용자 메뉴와 관리자 메뉴로 구분하며, 관리자 메뉴는 권한에 따라 노출합니다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AI Assistant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080760" y="1965960"/>
            <a:ext cx="0" cy="18288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540764" y="2148840"/>
            <a:ext cx="9107424" cy="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40764" y="2148840"/>
            <a:ext cx="0" cy="13716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457200" y="2286000"/>
            <a:ext cx="2167128" cy="411480"/>
          </a:xfrm>
          <a:prstGeom prst="rect">
            <a:avLst/>
          </a:prstGeom>
          <a:solidFill>
            <a:srgbClr val="F3F5F9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챗봇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283464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메인 (CHT-001)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33756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대화 (CHT-002)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84048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피드백 팝업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817620" y="2148840"/>
            <a:ext cx="0" cy="13716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2734056" y="2286000"/>
            <a:ext cx="2167128" cy="411480"/>
          </a:xfrm>
          <a:prstGeom prst="rect">
            <a:avLst/>
          </a:prstGeom>
          <a:solidFill>
            <a:srgbClr val="F3F5F9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검색 · 저널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34056" y="283464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통합검색 (SRC-001)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34056" y="333756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추천 저널 (JNL-001)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094476" y="2148840"/>
            <a:ext cx="0" cy="13716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5010912" y="2286000"/>
            <a:ext cx="2167128" cy="411480"/>
          </a:xfrm>
          <a:prstGeom prst="rect">
            <a:avLst/>
          </a:prstGeom>
          <a:solidFill>
            <a:srgbClr val="F3F5F9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대시보드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10912" y="283464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종합현황 (DSH-001)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371332" y="2148840"/>
            <a:ext cx="0" cy="13716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7287768" y="2286000"/>
            <a:ext cx="2167128" cy="411480"/>
          </a:xfrm>
          <a:prstGeom prst="rect">
            <a:avLst/>
          </a:prstGeom>
          <a:solidFill>
            <a:srgbClr val="F3F5F9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마이페이지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87768" y="283464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설정 (MYP-001)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87768" y="333756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알림 (NTF-001)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87768" y="384048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공지 (BRD-001)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0648188" y="2148840"/>
            <a:ext cx="0" cy="13716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9564624" y="2286000"/>
            <a:ext cx="2167128" cy="411480"/>
          </a:xfrm>
          <a:prstGeom prst="rect">
            <a:avLst/>
          </a:prstGeom>
          <a:solidFill>
            <a:srgbClr val="F3F5F9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관리자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64624" y="283464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사용자 (ADM-010)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564624" y="333756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문서 · 임베딩 (ADM-020)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564624" y="3840480"/>
            <a:ext cx="216712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000" tIns="18000" bIns="18000"/>
          <a:lstStyle/>
          <a:p>
            <a:pPr algn="ctr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로그 · 통계 (ADM-030)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Ⅲ-10.  화면 설계 요약 (화면 목록)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제안 기능과 화면 ID를 1:1로 연결하며, 화면별 상세는 화면설계서에서 정의합니다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전체 화면 목록(약 20개 화면)은 화면설계서 '화면 목록' 참조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7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2194560"/>
                <a:gridCol w="1280160"/>
                <a:gridCol w="2194560"/>
                <a:gridCol w="1463040"/>
                <a:gridCol w="277063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유형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연결 기능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대상 사용자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화면설계서 위치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AUTH-001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로그인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예시 E-01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챗봇 메인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FN-02, 04, 05, 06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예시 E-02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대화 · 출처 패널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FN-02, 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예시 E-03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DSH-001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경영진 대시보드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대시보드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FN-08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경영진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예시 E-04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MYP-001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마이페이지 · 설정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FN-10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예시 E-05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NTF-001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알림센터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FN-09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예시 E-06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ADM-010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사용자 · 권한 관리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목록 + 상세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FN-11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관리자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예시 E-07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MOB-001~003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모바일 챗봇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모바일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FN-14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예시 E-08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Ⅲ-11.  화면 예시 ① AI 챗봇 (CHT-002)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처리 단계와 근거 출처를 함께 보여주어 답변의 신뢰성을 확보합니다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상세 정의는 화면설계서 CHT-002 (예시 E-03)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ounded Rectangle 55"/>
          <p:cNvSpPr/>
          <p:nvPr/>
        </p:nvSpPr>
        <p:spPr>
          <a:xfrm>
            <a:off x="457200" y="1554480"/>
            <a:ext cx="7863840" cy="438912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1645920"/>
            <a:ext cx="1554480" cy="42062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1737360"/>
            <a:ext cx="1371600" cy="2743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  <a:ea typeface="Malgun Gothic"/>
              </a:rPr>
              <a:t>＋ 새 대화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2148840"/>
            <a:ext cx="13716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000" tIns="18000" bIns="18000"/>
          <a:lstStyle/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연차 사용 기한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2441448"/>
            <a:ext cx="13716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000" tIns="18000" bIns="18000"/>
          <a:lstStyle/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재택근무 신청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2734056"/>
            <a:ext cx="13716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000" tIns="18000" bIns="18000"/>
          <a:lstStyle/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출장비 정산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937760" y="1737360"/>
            <a:ext cx="1828800" cy="310896"/>
          </a:xfrm>
          <a:prstGeom prst="roundRect">
            <a:avLst>
              <a:gd name="adj" fmla="val 12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50" b="1">
                <a:solidFill>
                  <a:srgbClr val="1A2233"/>
                </a:solidFill>
                <a:latin typeface="Malgun Gothic"/>
                <a:ea typeface="Malgun Gothic"/>
              </a:rPr>
              <a:t>연차 사용 기한은?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0" y="2194560"/>
            <a:ext cx="3657600" cy="1645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/>
            <a:r>
              <a:rPr sz="950" b="0">
                <a:solidFill>
                  <a:srgbClr val="5A6577"/>
                </a:solidFill>
                <a:latin typeface="Malgun Gothic"/>
                <a:ea typeface="Malgun Gothic"/>
              </a:rPr>
              <a:t>연차는 당해 연도 말일까지 사용해야 합니다 [1].</a:t>
            </a:r>
          </a:p>
          <a:p>
            <a:pPr algn="l"/>
            <a:r>
              <a:rPr sz="950" b="0">
                <a:solidFill>
                  <a:srgbClr val="5A6577"/>
                </a:solidFill>
                <a:latin typeface="Malgun Gothic"/>
                <a:ea typeface="Malgun Gothic"/>
              </a:rPr>
              <a:t>미사용 연차는 익년 1월 정산됩니다 [2].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0" y="1645920"/>
            <a:ext cx="18288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1691640"/>
            <a:ext cx="173736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850" b="1">
                <a:solidFill>
                  <a:srgbClr val="1B2A4A"/>
                </a:solidFill>
                <a:latin typeface="Malgun Gothic"/>
                <a:ea typeface="Malgun Gothic"/>
              </a:rPr>
              <a:t>출처 3건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73952" y="2011680"/>
            <a:ext cx="1691640" cy="10972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000" tIns="18000" bIns="18000"/>
          <a:lstStyle/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[1] 연차휴가 운영 지침</a:t>
            </a:r>
          </a:p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인사팀 · 2025.03.15</a:t>
            </a:r>
          </a:p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원문 열람 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73952" y="3200400"/>
            <a:ext cx="1691640" cy="10972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000" tIns="18000" bIns="18000"/>
          <a:lstStyle/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[2] 연차휴가 운영 지침</a:t>
            </a:r>
          </a:p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인사팀 · 2025.03.15</a:t>
            </a:r>
          </a:p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원문 열람 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73952" y="4389120"/>
            <a:ext cx="1691640" cy="10972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000" tIns="18000" bIns="18000"/>
          <a:lstStyle/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[3] 연차휴가 운영 지침</a:t>
            </a:r>
          </a:p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인사팀 · 2025.03.15</a:t>
            </a:r>
          </a:p>
          <a:p>
            <a:pPr algn="l"/>
            <a:r>
              <a:rPr sz="800" b="0">
                <a:solidFill>
                  <a:srgbClr val="5A6577"/>
                </a:solidFill>
                <a:latin typeface="Malgun Gothic"/>
                <a:ea typeface="Malgun Gothic"/>
              </a:rPr>
              <a:t>원문 열람 ↗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286000" y="521208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850" b="0">
                <a:solidFill>
                  <a:srgbClr val="8A93A5"/>
                </a:solidFill>
                <a:latin typeface="Malgun Gothic"/>
                <a:ea typeface="Malgun Gothic"/>
              </a:rPr>
              <a:t>이어서 질문해보세요                        ■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95360" y="1508760"/>
            <a:ext cx="258775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화면 설명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595360" y="1837943"/>
            <a:ext cx="313639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8595360" y="1965960"/>
            <a:ext cx="3136392" cy="3840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7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답변에 인용 번호 [n] 표시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우측 패널에 출처 · 부서 · 일자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[원문 열람]은 권한 보유 건만 활성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좋아요 · 싫어요로 품질 피드백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응답 중에는 중지 버튼 제공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Ⅲ-12.  화면 예시 ② 경영진 대시보드 (DSH-001)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핵심 지표를 한 화면에서 모니터링하고 이용 현황을 파악합니다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상세 정의는 화면설계서 DSH-001 (예시 E-04)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ounded Rectangle 55"/>
          <p:cNvSpPr/>
          <p:nvPr/>
        </p:nvSpPr>
        <p:spPr>
          <a:xfrm>
            <a:off x="457200" y="1554480"/>
            <a:ext cx="7863840" cy="438912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1691640"/>
            <a:ext cx="1783080" cy="7772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00" b="1">
                <a:solidFill>
                  <a:srgbClr val="1B2A4A"/>
                </a:solidFill>
                <a:latin typeface="Malgun Gothic"/>
                <a:ea typeface="Malgun Gothic"/>
              </a:rPr>
              <a:t>활성 사용자</a:t>
            </a:r>
          </a:p>
          <a:p>
            <a:pPr algn="l"/>
            <a:r>
              <a:rPr sz="1000" b="1">
                <a:solidFill>
                  <a:srgbClr val="1B2A4A"/>
                </a:solidFill>
                <a:latin typeface="Malgun Gothic"/>
                <a:ea typeface="Malgun Gothic"/>
              </a:rPr>
              <a:t>1,284명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14600" y="1691640"/>
            <a:ext cx="1783080" cy="7772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00" b="1">
                <a:solidFill>
                  <a:srgbClr val="1B2A4A"/>
                </a:solidFill>
                <a:latin typeface="Malgun Gothic"/>
                <a:ea typeface="Malgun Gothic"/>
              </a:rPr>
              <a:t>일평균 질의</a:t>
            </a:r>
          </a:p>
          <a:p>
            <a:pPr algn="l"/>
            <a:r>
              <a:rPr sz="1000" b="1">
                <a:solidFill>
                  <a:srgbClr val="1B2A4A"/>
                </a:solidFill>
                <a:latin typeface="Malgun Gothic"/>
                <a:ea typeface="Malgun Gothic"/>
              </a:rPr>
              <a:t>3,420건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89120" y="1691640"/>
            <a:ext cx="1783080" cy="7772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00" b="1">
                <a:solidFill>
                  <a:srgbClr val="1B2A4A"/>
                </a:solidFill>
                <a:latin typeface="Malgun Gothic"/>
                <a:ea typeface="Malgun Gothic"/>
              </a:rPr>
              <a:t>응답 만족도</a:t>
            </a:r>
          </a:p>
          <a:p>
            <a:pPr algn="l"/>
            <a:r>
              <a:rPr sz="1000" b="1">
                <a:solidFill>
                  <a:srgbClr val="1B2A4A"/>
                </a:solidFill>
                <a:latin typeface="Malgun Gothic"/>
                <a:ea typeface="Malgun Gothic"/>
              </a:rPr>
              <a:t>87.5%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1691640"/>
            <a:ext cx="1783080" cy="7772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00" b="1">
                <a:solidFill>
                  <a:srgbClr val="1B2A4A"/>
                </a:solidFill>
                <a:latin typeface="Malgun Gothic"/>
                <a:ea typeface="Malgun Gothic"/>
              </a:rPr>
              <a:t>미해결 이슈</a:t>
            </a:r>
          </a:p>
          <a:p>
            <a:pPr algn="l"/>
            <a:r>
              <a:rPr sz="1000" b="1">
                <a:solidFill>
                  <a:srgbClr val="1B2A4A"/>
                </a:solidFill>
                <a:latin typeface="Malgun Gothic"/>
                <a:ea typeface="Malgun Gothic"/>
              </a:rPr>
              <a:t>12건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2651760"/>
            <a:ext cx="47548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4297680"/>
            <a:ext cx="347472" cy="548640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1463040" y="4023359"/>
            <a:ext cx="347472" cy="822960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2011680" y="4206240"/>
            <a:ext cx="347472" cy="640080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2560320" y="3749039"/>
            <a:ext cx="347472" cy="1097280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3108960" y="3977639"/>
            <a:ext cx="347472" cy="868680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0" y="3566160"/>
            <a:ext cx="347472" cy="1280160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4206240" y="3840479"/>
            <a:ext cx="347472" cy="1005840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4754880" y="3291839"/>
            <a:ext cx="347472" cy="1554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5577840" y="2651760"/>
            <a:ext cx="2651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0" y="2697480"/>
            <a:ext cx="228600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많이 찾은 문서 TOP 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0" y="3017520"/>
            <a:ext cx="24688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1  연차휴가 운영 지침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0" y="3383279"/>
            <a:ext cx="24688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2  출장비 정산 기준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69280" y="3749039"/>
            <a:ext cx="24688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3  재택근무 운영 규정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0" y="4114800"/>
            <a:ext cx="24688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4  경조사 휴가 안내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0" y="4480560"/>
            <a:ext cx="24688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36000" tIns="18000" bIns="18000"/>
          <a:lstStyle/>
          <a:p>
            <a:pPr algn="l"/>
            <a:r>
              <a:rPr sz="850" b="0">
                <a:solidFill>
                  <a:srgbClr val="1A2233"/>
                </a:solidFill>
                <a:latin typeface="Malgun Gothic"/>
                <a:ea typeface="Malgun Gothic"/>
              </a:rPr>
              <a:t>5  인사평가 가이드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95360" y="1508760"/>
            <a:ext cx="258775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화면 설명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595360" y="1837943"/>
            <a:ext cx="313639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8595360" y="1965960"/>
            <a:ext cx="3136392" cy="3840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7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KPI 카드 4종 (전기 대비 증감)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일별 질의 추이 차트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많이 찾은 문서 TOP 5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최근 피드백 · 이슈 확인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집계는 매일 01:00 배치 기준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Ⅲ-13.  보안 및 개인정보 보호 방안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AI 서비스 특유의 위험(권한 우회 · 정보 유출 · 프롬프트 주입)을 포함해 보안 통제를 설계합니다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개인정보 영향평가 · 보안 심의 일정은 추진 일정과 연동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2926080"/>
                <a:gridCol w="4754880"/>
                <a:gridCol w="213055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영역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위험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통제 방안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적용 시점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접근 통제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비인가 사용자 접근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SSO · 세션 만료 · IP 제한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 · 개발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데이터 권한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권한 없는 문서 노출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검색 단계 권한 필터 + 출처 단계 재검증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개인정보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개인정보 입력 · 노출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입력 · 출력 마스킹, 로그 마스킹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보안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프롬프트 주입 · 정보 유출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가드레일 · 금칙어 · 시스템 프롬프트 보호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 · 운영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감사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사후 추적 불가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질의 · 응답 · 관리자 변경 로그 N년 보관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외부 연동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외부 API로 데이터 유출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웹검색 모드 분리 · 전송 데이터 최소화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Ⅲ-14.  권한 체계 (역할 · 메뉴)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역할별 접근 가능한 메뉴를 정의하며, 데이터 범위(법인 · 부서)는 기존 권한을 따릅니다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●전체 ○조건부 –불가   |   상세 매트릭스는 화면설계서 권한 정의 참조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91840"/>
                <a:gridCol w="1554480"/>
                <a:gridCol w="1554480"/>
                <a:gridCol w="1554480"/>
                <a:gridCol w="1737360"/>
                <a:gridCol w="158191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메뉴 · 기능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일반 사용자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팀 관리자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경영진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시스템 관리자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게스트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챗봇 (FN-02~07)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대시보드 (FN-08)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알림 · 마이페이지 (FN-09, 10)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사용자 · 권한 (FN-11)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 · 임베딩 (FN-12)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로그 · 통계 (FN-13)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Ⅲ-15.  비기능 요구사항 및 품질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성능 · 가용성 · 보안 · 접근성 · 호환성 목표를 정량으로 합의합니다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7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80160"/>
                <a:gridCol w="2743200"/>
                <a:gridCol w="4206240"/>
                <a:gridCol w="304495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항목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검증 방법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성능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일반 화면 응답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2초 이내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부하 테스트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성능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첫 응답(첫 토큰)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5초 이내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부하 테스트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성능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동시 접속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[N명] · 질의 [N건/분]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부하 테스트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가용성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서비스 가동률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99.5% (계획 점검 제외)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 점검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보안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취약점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보안 점검 지적 사항 조치 100%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모의 해킹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접근성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웹 접근성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WCAG 2.1 AA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접근성 점검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호환성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브라우저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Chrome · Edge 최신 2개 버전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크로스 브라우저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복구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RTO / RPO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[4시간 / 1시간]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복구 훈련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Ⅲ-16.  인프라 및 환경 구성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개발 · 검증 · 운영 환경을 분리하고, 데이터는 사내 · 전용 환경에서 처리합니다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클라우드 · 온프레미스 선택은 고객 보안 정책 확정 후 결정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2194560"/>
                <a:gridCol w="2743200"/>
                <a:gridCol w="2560320"/>
                <a:gridCol w="231343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환경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용도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데이터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접근 통제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개발(DEV)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 · 단위 테스트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[최소 사양]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가명 · 샘플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개발팀 한정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검증(STG)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통합 · UAT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[운영 동일 구조]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비식별 운영 일부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 · 현업 대표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운영(PRD)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서비스 운영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[이중화 구성]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실데이터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SSO · 관리자 별도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DR(선택)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재해 복구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[백업 구성]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복제 데이터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운영팀 한정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Ⅲ-17.  운영 · 모니터링 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오픈 이후 안정 운영을 위해 모니터링 · 장애 대응 · 품질 개선의 3개 축을 운영합니다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3666744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1554480"/>
            <a:ext cx="3666744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모니터링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2057400"/>
            <a:ext cx="3392424" cy="2651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서비스 가용 · 응답 시간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임베딩 · 배치 실행 상태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AI 호출량 · 오류율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4754880"/>
            <a:ext cx="3392424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관리자 대시보드 · 알림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61104" y="1554480"/>
            <a:ext cx="3666744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4261104" y="1554480"/>
            <a:ext cx="3666744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장애 대응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98264" y="2057400"/>
            <a:ext cx="3392424" cy="2651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등급별 대응 절차(L1~L3)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에스컬레이션 · 연락 체계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장애 이력 · 원인 분석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98264" y="4754880"/>
            <a:ext cx="3392424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목표 복구 시간 준수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65008" y="1554480"/>
            <a:ext cx="3666744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8065008" y="1554480"/>
            <a:ext cx="3666744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18000" bIns="18000"/>
          <a:lstStyle/>
          <a:p>
            <a:pPr algn="l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</a:rPr>
              <a:t>품질 개선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02168" y="2057400"/>
            <a:ext cx="3392424" cy="2651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피드백 · 오답 사례 월간 분석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용어 사전 · 프롬프트 개선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월 1회 정기 릴리스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02168" y="4754880"/>
            <a:ext cx="3392424" cy="5486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1">
                <a:solidFill>
                  <a:srgbClr val="1B2A4A"/>
                </a:solidFill>
                <a:latin typeface="Malgun Gothic"/>
                <a:ea typeface="Malgun Gothic"/>
              </a:rPr>
              <a:t>정확도 지속 향상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/>
        <p:txBody>
          <a:bodyPr/>
          <a:lstStyle/>
          <a:p>
            <a:r>
              <a:t>사업 관리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추진 체계 · 일정 · 산출물 · 테스트 · 이행 · 리스크 관리 방안을 제시합니다.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t>추진 체계 · 일정 · 산출물</a:t>
            </a:r>
          </a:p>
          <a:p>
            <a:r>
              <a:t>방법론 · 테스트 · 이행</a:t>
            </a:r>
          </a:p>
          <a:p>
            <a:r>
              <a:t>리스크 · 거버넌스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Ⅳ-1.  추진 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제안사와 고객사가 공동 추진하며, 의사결정 · 관리 · 수행 3단 조직으로 운영합니다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2926080" y="1508760"/>
            <a:ext cx="6309360" cy="457200"/>
          </a:xfrm>
          <a:prstGeom prst="rect">
            <a:avLst/>
          </a:prstGeom>
          <a:solidFill>
            <a:srgbClr val="2E4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운영위원회 (Steering Committee)  —  [고객사 임원] · [제안사 임원]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6080" y="2194560"/>
            <a:ext cx="6309360" cy="457200"/>
          </a:xfrm>
          <a:prstGeom prst="rect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1B2A4A"/>
                </a:solidFill>
                <a:latin typeface="Malgun Gothic"/>
                <a:ea typeface="Malgun Gothic"/>
              </a:rPr>
              <a:t>PMO  —  [고객사 PM] · [제안사 PM]  /  일정 · 품질 · 리스크 관리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080760" y="1965960"/>
            <a:ext cx="0" cy="22860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080760" y="2651760"/>
            <a:ext cx="0" cy="228600"/>
          </a:xfrm>
          <a:prstGeom prst="line">
            <a:avLst/>
          </a:prstGeom>
          <a:ln w="12700">
            <a:solidFill>
              <a:srgbClr val="8A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457200" y="2880360"/>
            <a:ext cx="269748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기획 · 설계팀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3264408"/>
            <a:ext cx="2697480" cy="21031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3383280"/>
            <a:ext cx="246888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요구사항 · 화면설계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데이터 · 용어 설계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[담당자명 · 인원]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91840" y="2880360"/>
            <a:ext cx="269748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AI · 개발팀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91840" y="3264408"/>
            <a:ext cx="2697480" cy="21031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3429000" y="3383280"/>
            <a:ext cx="246888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백엔드 · 프론트 개발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AI 엔진 · 연계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[담당자명 · 인원]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0" y="2880360"/>
            <a:ext cx="269748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인프라 · 보안팀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3264408"/>
            <a:ext cx="2697480" cy="21031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3383280"/>
            <a:ext cx="246888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환경 구성 · 보안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모니터링 · 배포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[담당자명 · 인원]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61120" y="2880360"/>
            <a:ext cx="269748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현업 대표단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61120" y="3264408"/>
            <a:ext cx="2697480" cy="21031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9098280" y="3383280"/>
            <a:ext cx="2468880" cy="1828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요구 · 검증 · UAT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교육 · 확산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A2233"/>
                </a:solidFill>
                <a:latin typeface="Malgun Gothic"/>
                <a:ea typeface="Malgun Gothic"/>
              </a:rPr>
              <a:t>•  [담당자명 · 인원]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Ⅳ-2.  역할 및 책임 (RACI)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업무 · 산출물별 수행(R) · 승인(A) · 협의(C) · 통보(I)를 정의하여 책임 공백을 방지합니다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R 수행   A 승인(업무당 1명)   C 협의   I 통보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79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91840"/>
                <a:gridCol w="1097280"/>
                <a:gridCol w="1097280"/>
                <a:gridCol w="1097280"/>
                <a:gridCol w="1097280"/>
                <a:gridCol w="1097280"/>
                <a:gridCol w="1280160"/>
                <a:gridCol w="121615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업무 / 산출물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PM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기획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디자인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보안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인프라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요구사항 정의서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화면설계서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UI 디자인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 · 연계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보안 점검 · 심의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R/A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UAT 수행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오픈 승인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Ⅳ-3.  추진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착수부터 정식 오픈까지 약 7개월, 설계 승인 · 가오픈 · 정식 오픈을 주요 마일스톤으로 관리합니다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◆ 마일스톤: M1 착수 · M3 설계 승인 · M6 가오픈 · M7 정식 오픈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2377440" cy="2743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40" y="1554480"/>
            <a:ext cx="1112139" cy="2743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46779" y="1554480"/>
            <a:ext cx="1112139" cy="2743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58918" y="1554480"/>
            <a:ext cx="1112139" cy="2743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1057" y="1554480"/>
            <a:ext cx="1112139" cy="2743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83196" y="1554480"/>
            <a:ext cx="1112139" cy="2743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95335" y="1554480"/>
            <a:ext cx="1112139" cy="2743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07474" y="1554480"/>
            <a:ext cx="1112139" cy="2743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619613" y="1554480"/>
            <a:ext cx="1112139" cy="274320"/>
          </a:xfrm>
          <a:prstGeom prst="rect">
            <a:avLst/>
          </a:prstGeom>
          <a:solidFill>
            <a:srgbClr val="F3F5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1A2233"/>
                </a:solidFill>
                <a:latin typeface="Malgun Gothic"/>
                <a:ea typeface="Malgun Gothic"/>
              </a:rPr>
              <a:t>M8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182880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>착수 · 분석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34640" y="1828800"/>
            <a:ext cx="889711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862072" y="1929384"/>
            <a:ext cx="1057275" cy="301752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  <a:ea typeface="Malgun Gothic"/>
              </a:rPr>
              <a:t>[PMO]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233172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>요구사항 · 화면 설계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34640" y="2331720"/>
            <a:ext cx="889711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18141" y="2432303"/>
            <a:ext cx="2169414" cy="301752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  <a:ea typeface="Malgun Gothic"/>
              </a:rPr>
              <a:t>[기획]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283464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>UI 디자인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34640" y="2834640"/>
            <a:ext cx="889711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30280" y="2935224"/>
            <a:ext cx="1613344" cy="301752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  <a:ea typeface="Malgun Gothic"/>
              </a:rPr>
              <a:t>[디자인]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333756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>데이터 · 용어 사전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834640" y="3337560"/>
            <a:ext cx="889711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30280" y="3438144"/>
            <a:ext cx="2169414" cy="301752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  <a:ea typeface="Malgun Gothic"/>
              </a:rPr>
              <a:t>[데이터]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384048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>AI · 서비스 개발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834640" y="3840480"/>
            <a:ext cx="889711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642419" y="3941064"/>
            <a:ext cx="3281553" cy="301752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  <a:ea typeface="Malgun Gothic"/>
              </a:rPr>
              <a:t>[개발]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434340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>가오픈 · 검증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34640" y="4343400"/>
            <a:ext cx="889711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422767" y="4443984"/>
            <a:ext cx="1613344" cy="301752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  <a:ea typeface="Malgun Gothic"/>
              </a:rPr>
              <a:t>[현업 대표]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84632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>정식 오픈 · 안정화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834640" y="4846320"/>
            <a:ext cx="889711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868547" y="4946904"/>
            <a:ext cx="1835772" cy="301752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  <a:ea typeface="Malgun Gothic"/>
              </a:rPr>
              <a:t>[운영]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Ⅳ-4.  단계별 산출물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단계별 산출물과 검수 기준을 사전에 합의하여 인수 시 분쟁을 방지합니다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1" cy="4114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720"/>
                <a:gridCol w="4754880"/>
                <a:gridCol w="1463040"/>
                <a:gridCol w="2011680"/>
                <a:gridCol w="1856231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산출물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형식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검수자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분석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요구사항 정의서 · 현황 분석서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현업 · PM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화면설계서 · 데이터 · 인터페이스 정의서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현업 · 보안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소스 · 배포 패키지 · 단위 테스트 결과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소스 · 문서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PM · QA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테스트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통합 · UAT 시나리오 · 결과 보고서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현업 대표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이행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 매뉴얼 · 교육 자료 · 이행 계획서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종료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완료 보고서 · 인수인계서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M8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Ⅳ-5.  개발 방법론 및 품질 관리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스프린트 기반 반복 개발과 단계별 품질 게이트로 일정과 품질을 함께 관리합니다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Pentagon 55"/>
          <p:cNvSpPr/>
          <p:nvPr/>
        </p:nvSpPr>
        <p:spPr>
          <a:xfrm>
            <a:off x="457200" y="1554480"/>
            <a:ext cx="2209190" cy="566928"/>
          </a:xfrm>
          <a:prstGeom prst="homePlat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① 스프린트 계획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2주 단위</a:t>
            </a:r>
          </a:p>
        </p:txBody>
      </p:sp>
      <p:sp>
        <p:nvSpPr>
          <p:cNvPr id="57" name="Pentagon 56"/>
          <p:cNvSpPr/>
          <p:nvPr/>
        </p:nvSpPr>
        <p:spPr>
          <a:xfrm>
            <a:off x="2712110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② 설계 · 개발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기능 단위</a:t>
            </a:r>
          </a:p>
        </p:txBody>
      </p:sp>
      <p:sp>
        <p:nvSpPr>
          <p:cNvPr id="58" name="Pentagon 57"/>
          <p:cNvSpPr/>
          <p:nvPr/>
        </p:nvSpPr>
        <p:spPr>
          <a:xfrm>
            <a:off x="4967020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③ 내부 검증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코드 리뷰 · 테스트</a:t>
            </a:r>
          </a:p>
        </p:txBody>
      </p:sp>
      <p:sp>
        <p:nvSpPr>
          <p:cNvPr id="59" name="Pentagon 58"/>
          <p:cNvSpPr/>
          <p:nvPr/>
        </p:nvSpPr>
        <p:spPr>
          <a:xfrm>
            <a:off x="7221931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④ 현업 리뷰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데모 · 피드백</a:t>
            </a:r>
          </a:p>
        </p:txBody>
      </p:sp>
      <p:sp>
        <p:nvSpPr>
          <p:cNvPr id="60" name="Pentagon 59"/>
          <p:cNvSpPr/>
          <p:nvPr/>
        </p:nvSpPr>
        <p:spPr>
          <a:xfrm>
            <a:off x="9476841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⑤ 릴리스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배포 · 회고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457200" y="2331720"/>
          <a:ext cx="11274552" cy="27614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914400"/>
                <a:gridCol w="3291840"/>
                <a:gridCol w="2926080"/>
                <a:gridCol w="267919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품질 게이트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점검 항목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통과 기준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담당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 승인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설계서 · 체크리스트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결함 0 · 현업 승인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PM · 현업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 완료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단위 · 코드 품질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커버리지 [80%]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QA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오픈 승인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UAT · 보안 · 성능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치명 결함 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Ⅳ-6.  테스트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단위 · 통합 · 성능 · 보안 · UAT 5단계로 검증하며, AI 답변 품질은 별도 평가 세트로 측정합니다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2743200"/>
                <a:gridCol w="2011680"/>
                <a:gridCol w="2468880"/>
                <a:gridCol w="267919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테스트 단계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범위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수행 주체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도구 · 산출물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함수 · API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커버리지 [80%]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[테스트 도구]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통합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↔ API ↔ 연계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 · QA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시나리오 100% 수행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통합 시나리오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성능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응답 · 동시 접속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QA · 인프라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목표값 충족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[부하 도구]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보안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취약점 · 권한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보안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조치 100%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점검 보고서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품질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정확도 · 출처 · 거부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기획 · 현업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정확도 [85%]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평가 세트 [N문항]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UAT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업무 시나리오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승인 기준 충족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UAT 시나리오(TC)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Ⅳ-7.  이행 · 오픈 계획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데이터 이행부터 오픈 후 안정화까지 단계별 체크리스트로 위험 없이 전환합니다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79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80160"/>
                <a:gridCol w="4023360"/>
                <a:gridCol w="1463040"/>
                <a:gridCol w="2011680"/>
                <a:gridCol w="249631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작업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책임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완료 기준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사전 준비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 환경 · 계정 · 권한 · 문서 등록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오픈 -2주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인프라 · 기획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체크리스트 100%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리허설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이행 리허설 · 롤백 절차 검증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오픈 -1주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 · 운영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리허설 성공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서비스 배포 · 공지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D-Day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PM · 개발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정상 가동 확인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안정화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집중 모니터링 · 즉시 대응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오픈 후 2주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 · 개발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치명 장애 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이관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 조직 인수인계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안정화 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PM · 운영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인수인계서 승인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Ⅳ-8.  교육 및 변경관리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서비스가 현장에서 실제로 쓰이도록 대상별 교육과 확산 활동을 병행합니다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챔피언(부서별 활용 리더) 운영 · 사내 공지 · FAQ 정기 업데이트 병행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3840480"/>
                <a:gridCol w="1828800"/>
                <a:gridCol w="1828800"/>
                <a:gridCol w="213055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교육 내용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방식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성과 지표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일반 임직원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사용법 · 질문 요령 · 유의사항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영상 · 가이드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오픈 전후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가이드 조회율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현업 대표단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고급 활용 · 피드백 방법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워크숍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가오픈 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참여율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관리자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 · 사용자 · 임베딩 운영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실습 교육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오픈 -2주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 테스트 통과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경영진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대시보드 해석 · 활용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브리핑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오픈 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정기 이용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Ⅳ-9.  리스크 관리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사업 성공을 위협하는 요인을 사전에 식별하고 대응 방안과 책임을 정의합니다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2011680"/>
                <a:gridCol w="731520"/>
                <a:gridCol w="731520"/>
                <a:gridCol w="3931920"/>
                <a:gridCol w="176479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리스크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영향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가능성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영향도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대응 방안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담당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데이터 품질 · 접근 지연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일정 지연 · 정확도 저하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사전 데이터 점검 · 대체 데이터 확보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고객사 · 제안사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현업 참여 부족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요구사항 변경 증가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대표단 지정 · 정기 점검회의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고객사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답변 신뢰도 이슈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활용 저조 · 불신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출처 표기 · 평가 세트 · 사전 튜닝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제안사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보안 · 개인정보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오픈 지연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보안 심의 사전 진행 · 마스킹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고객사 보안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비용 · 사용량 급증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운영비 초과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사용량 한도 · 모니터링 · 캐시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제안사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외부 모델 정책 변경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서비스 품질 변동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모델 교체 가능 구조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제안사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Ⅳ-10.  보고 체계 및 의사결정 거버넌스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정기 보고와 의사결정 절차를 명확히 하여 이슈를 조기에 해결합니다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이슈 · 변경 요청은 이슈 관리표(화면설계서 부록)와 동일 양식으로 관리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280160"/>
                <a:gridCol w="2377440"/>
                <a:gridCol w="3474720"/>
                <a:gridCol w="249631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회의체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주기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참석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산출물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운영위원회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월 1회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임원 · PM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주요 의사결정 · 범위 변경 승인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회의록 · 결정사항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PMO 회의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주 1회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PM · 파트 리더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일정 · 이슈 · 리스크 점검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주간 보고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현업 리뷰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격주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현업 대표단 · 기획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요구사항 · 화면 검증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리뷰 결과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기술 점검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주 2회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 · 인프라 · 보안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기술 이슈 해결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이슈 대장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/>
        <p:txBody>
          <a:bodyPr/>
          <a:lstStyle/>
          <a:p>
            <a:r>
              <a:t>기대효과 및 투자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기대 효과와 성공 지표, 투자 비용 구성과 확장 로드맵을 제시합니다.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t>기대 효과 · KPI · 효과 산정</a:t>
            </a:r>
          </a:p>
          <a:p>
            <a:r>
              <a:t>투자 비용 · 운영 비용</a:t>
            </a:r>
          </a:p>
          <a:p>
            <a:r>
              <a:t>확장 로드맵 · 서비스 범위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Ⅴ-1.  기대 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정량 효과와 정성 효과, 확장 효과로 나누어 제시하며 시범 운영 결과로 검증합니다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554480"/>
            <a:ext cx="3657600" cy="3749039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1554480"/>
            <a:ext cx="3657600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000" tIns="18000" bIns="18000"/>
          <a:lstStyle/>
          <a:p>
            <a:pPr algn="l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정량 효과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2194560"/>
            <a:ext cx="3291840" cy="2926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10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정보 탐색 시간 [N%] 절감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담당자 문의 건수 [N%] 감소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신규 입사자 적응 기간 [N일] 단축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51960" y="1554480"/>
            <a:ext cx="3657600" cy="3749039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4251960" y="1554480"/>
            <a:ext cx="3657600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000" tIns="18000" bIns="18000"/>
          <a:lstStyle/>
          <a:p>
            <a:pPr algn="l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정성 효과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34840" y="2194560"/>
            <a:ext cx="3291840" cy="2926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10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업무 품질 · 답변 일관성 향상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임직원 AI 활용 역량 향상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지식 자산의 체계적 관리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6720" y="1554480"/>
            <a:ext cx="3657600" cy="3749039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8046720" y="1554480"/>
            <a:ext cx="3657600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000" tIns="18000" bIns="18000"/>
          <a:lstStyle/>
          <a:p>
            <a:pPr algn="l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확장 효과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2194560"/>
            <a:ext cx="3291840" cy="2926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36000" tIns="18000" bIns="18000"/>
          <a:lstStyle/>
          <a:p>
            <a:pPr algn="l">
              <a:spcAft>
                <a:spcPts val="10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그룹사 · 해외 법인 재사용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용어 사전 · 운영 모델 표준화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1A2233"/>
                </a:solidFill>
                <a:latin typeface="Malgun Gothic"/>
                <a:ea typeface="Malgun Gothic"/>
              </a:rPr>
              <a:t>•  후속 Agent 과제의 기반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Ⅴ-2.  성공 지표 (KPI)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사업 시작 시점에 기준값을 측정하고, 시범 운영 후 목표 달성 여부를 함께 검증합니다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2377440"/>
                <a:gridCol w="1645920"/>
                <a:gridCol w="1645920"/>
                <a:gridCol w="3108960"/>
                <a:gridCol w="158191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지표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지표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현재(기준)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목표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측정 방법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주기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KPI-001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질의 응답 정확도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[85%] 이상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평가 세트 · 현업 샘플 평가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KPI-002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평균 응답 시간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[00분(수작업)]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5초 이내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시스템 로그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KPI-003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월간 활성 사용자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[N명] (대상 [%])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접속 로그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KPI-004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응답 만족도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[4.0 / 5.0]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좋아요 비율 · 설문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KPI-005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담당자 문의 감소율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[기준 건수]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[N%] 감소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문의 대장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분기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KPI-006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출처 포함률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[95%] 이상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응답 로그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Ⅴ-3.  효과 산정 (ROI)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절감 시간을 인건비로 환산하여 투자 대비 효과를 산정합니다 (가정값은 고객사와 협의하여 확정)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효과 산정은 보수적 가정 기준이며, 정성 효과는 산정에서 제외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4572000"/>
                <a:gridCol w="2377440"/>
                <a:gridCol w="194767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산정 항목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산식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가정값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연간 효과(백만원)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탐색 시간 절감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대상 인원 × 월 질의 × 절감 시간 × 단가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[N명 × N건 × N분]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문의 응대 절감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문의 감소 건수 × 처리 시간 × 단가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[N건 × N분]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신규 입사자 적응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입사자 수 × 단축 일수 × 일 단가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[N명 × N일]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효과 합계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투자 비용 (3년 TCO)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구축 + 운영 3년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투자 회수 기간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투자 비용 ÷ 연간 효과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[N년]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Ⅴ-4.  투자 비용 구성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단계별 투입 범위에 따라 비용을 구성하며, 상세 금액은 요구사항 확정 후 협의합니다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※ 금액은 예시 형식이며 실제 견적은 별도 제안 견적서 기준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/>
                <a:gridCol w="3108960"/>
                <a:gridCol w="2194560"/>
                <a:gridCol w="1463040"/>
                <a:gridCol w="277063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내역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산정 기준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금액(백만원)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비고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구축 용역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분석 · 설계 · 개발 · 테스트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M/M × 단가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1차 범위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데이터 · 용어 사전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 정제 · 임베딩 · 사전 구축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M/M × 단가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대상 게시판 [N개]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· 클라우드 사용료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LLM · 검색 · 저장소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월 사용량 실비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고객사 계정 부담 여부 협의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보안 · 인프라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환경 구성 · 보안 점검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구성 기준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교육 · 변경관리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교육 자료 · 워크숍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회차 × 단가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합계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VAT 별도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Ⅴ-5.  비용 산정 근거 (투입 M/M)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역할별 투입 인력과 기간으로 산정 근거를 투명하게 제시합니다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79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11680"/>
                <a:gridCol w="1280160"/>
                <a:gridCol w="1371600"/>
                <a:gridCol w="1463040"/>
                <a:gridCol w="1280160"/>
                <a:gridCol w="1645920"/>
                <a:gridCol w="222199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역할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등급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투입 인원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투입 기간(M)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M/M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금액(백만원)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PM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특급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[1]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[7]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[7.0]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기획 · 설계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고급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[2]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[4]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[8.0]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· 개발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고급/중급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[4]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[5]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[20.0]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데이터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중급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[2]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[4]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[8.0]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UI · UX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중급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[1]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[3]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[3.0]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QA · 인프라 · 보안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중급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[2]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[4]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[8.0]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합계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[12]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[54.0]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Ⅴ-6.  운영 비용 (3개년 TCO)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구축 이후 운영 · 유지보수 · AI 사용료를 포함한 3개년 총 소유 비용을 제시합니다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79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371600"/>
                <a:gridCol w="1371600"/>
                <a:gridCol w="1371600"/>
                <a:gridCol w="1371600"/>
                <a:gridCol w="341071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항목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1년차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2년차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3년차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합계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산정 기준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구축 비용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Ⅴ-4 합계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· 클라우드 사용료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사용량 증가율 [N%]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 · 유지보수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구축비의 [N%]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라이선스 · 인프라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[기준]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합계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[000]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단위: 백만원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Ⅴ-7.  확장 로드맵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1차 MVP 검증 후, 업무 연계형 Agent와 전사 · 글로벌 확산으로 단계적으로 확장합니다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Pentagon 55"/>
          <p:cNvSpPr/>
          <p:nvPr/>
        </p:nvSpPr>
        <p:spPr>
          <a:xfrm>
            <a:off x="457200" y="1554480"/>
            <a:ext cx="2209190" cy="566928"/>
          </a:xfrm>
          <a:prstGeom prst="homePlat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1차 MVP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Malgun Gothic"/>
                <a:ea typeface="Malgun Gothic"/>
              </a:rPr>
              <a:t>사내 질의응답</a:t>
            </a:r>
          </a:p>
        </p:txBody>
      </p:sp>
      <p:sp>
        <p:nvSpPr>
          <p:cNvPr id="57" name="Pentagon 56"/>
          <p:cNvSpPr/>
          <p:nvPr/>
        </p:nvSpPr>
        <p:spPr>
          <a:xfrm>
            <a:off x="2712110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1.5차 안정화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대시보드 · 알림</a:t>
            </a:r>
          </a:p>
        </p:txBody>
      </p:sp>
      <p:sp>
        <p:nvSpPr>
          <p:cNvPr id="58" name="Pentagon 57"/>
          <p:cNvSpPr/>
          <p:nvPr/>
        </p:nvSpPr>
        <p:spPr>
          <a:xfrm>
            <a:off x="4967020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2차 고도화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업무 연계 Agent</a:t>
            </a:r>
          </a:p>
        </p:txBody>
      </p:sp>
      <p:sp>
        <p:nvSpPr>
          <p:cNvPr id="59" name="Pentagon 58"/>
          <p:cNvSpPr/>
          <p:nvPr/>
        </p:nvSpPr>
        <p:spPr>
          <a:xfrm>
            <a:off x="7221931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3차 확산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그룹사 · 법인</a:t>
            </a:r>
          </a:p>
        </p:txBody>
      </p:sp>
      <p:sp>
        <p:nvSpPr>
          <p:cNvPr id="60" name="Pentagon 59"/>
          <p:cNvSpPr/>
          <p:nvPr/>
        </p:nvSpPr>
        <p:spPr>
          <a:xfrm>
            <a:off x="9476841" y="1554480"/>
            <a:ext cx="2209190" cy="566928"/>
          </a:xfrm>
          <a:prstGeom prst="homePlate">
            <a:avLst/>
          </a:prstGeom>
          <a:solidFill>
            <a:srgbClr val="D5D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36000" tIns="18000" bIns="18000"/>
          <a:lstStyle/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4차 글로벌</a:t>
            </a:r>
          </a:p>
          <a:p>
            <a:pPr algn="ctr"/>
            <a:r>
              <a:rPr sz="950" b="1">
                <a:solidFill>
                  <a:srgbClr val="1B2A4A"/>
                </a:solidFill>
                <a:latin typeface="Malgun Gothic"/>
                <a:ea typeface="Malgun Gothic"/>
              </a:rPr>
              <a:t>다국어 · 표준화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457200" y="2331720"/>
          <a:ext cx="11274552" cy="27614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1920240"/>
                <a:gridCol w="1920240"/>
                <a:gridCol w="1920240"/>
                <a:gridCol w="1920240"/>
                <a:gridCol w="222199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1.5차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4차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핵심 과제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질의응답 · 권한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모니터링 · 모바일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업무 시스템 연계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법인별 권한 분리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다국어 운영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기대 효과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탐색 시간 절감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운영 가시화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업무 자동화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구축 비용 절감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글로벌 표준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시점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M8~M10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[YYYY H2]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[YYYY+1]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[YYYY+2]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Ⅴ-8.  단계별 서비스 범위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각 단계에서 제공하는 서비스 범위와 전제 조건을 명확히 합니다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● 제공  ○ 선택  △ 조건부  – 미제공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7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474720"/>
                <a:gridCol w="914400"/>
                <a:gridCol w="914400"/>
                <a:gridCol w="914400"/>
                <a:gridCol w="914400"/>
                <a:gridCol w="414223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서비스 항목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1.5차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2차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3차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전제 조건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사내 질의응답 (FN-02~04)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게시판 연계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출처 · 권한 필터 (FN-03)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SSO · 권한 메타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피드백 · 관리자 (FN-07, 11~13)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대시보드 · 알림 (FN-08, 09)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△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집계 배치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웹검색 · 파일 첨부 (FN-05, 06)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△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외부 API 승인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모바일 웹 (FN-14)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UX 확정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업무 시스템 연계 Agent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●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대상 업무 선정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777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타 법인 확산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○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표준 모델 검증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5"/>
          </p:nvPr>
        </p:nvSpPr>
        <p:spPr/>
        <p:txBody>
          <a:bodyPr/>
          <a:lstStyle/>
          <a:p>
            <a:r>
              <a:t>부록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수행 역량 · 투입 인력 · 용어 · 추적표 등 검토에 필요한 참고 자료입니다.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t>수행 역량 · 투입 인력</a:t>
            </a:r>
          </a:p>
          <a:p>
            <a:r>
              <a:t>용어 정의</a:t>
            </a:r>
          </a:p>
          <a:p>
            <a:r>
              <a:t>요구사항 · 기능 · 화면 추적표</a:t>
            </a:r>
          </a:p>
          <a:p>
            <a:r>
              <a:t>사전 협의 · 협조 요청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부록-1.  제안사 수행 역량 및 레퍼런스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AI · 데이터 · 보안 영역의 수행 경험과 유사 프로젝트 실적을 제시합니다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57200" y="1463040"/>
            <a:ext cx="402336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핵심 역량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1792224"/>
            <a:ext cx="4572000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457200" y="1920240"/>
            <a:ext cx="4572000" cy="7315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9" name="Oval 58"/>
          <p:cNvSpPr/>
          <p:nvPr/>
        </p:nvSpPr>
        <p:spPr>
          <a:xfrm>
            <a:off x="594360" y="2093976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5840" y="2039112"/>
            <a:ext cx="25603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00" b="1">
                <a:solidFill>
                  <a:srgbClr val="1A2233"/>
                </a:solidFill>
                <a:latin typeface="Malgun Gothic"/>
                <a:ea typeface="Malgun Gothic"/>
              </a:rPr>
              <a:t>AI / LLM 서비스 구축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5840" y="2276856"/>
            <a:ext cx="25603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[보유 기술 · 인력 규모]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2743200"/>
            <a:ext cx="4572000" cy="7315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3" name="Oval 62"/>
          <p:cNvSpPr/>
          <p:nvPr/>
        </p:nvSpPr>
        <p:spPr>
          <a:xfrm>
            <a:off x="594360" y="2916936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5840" y="2862072"/>
            <a:ext cx="25603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00" b="1">
                <a:solidFill>
                  <a:srgbClr val="1A2233"/>
                </a:solidFill>
                <a:latin typeface="Malgun Gothic"/>
                <a:ea typeface="Malgun Gothic"/>
              </a:rPr>
              <a:t>데이터 플랫폼 · 연계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" y="3099815"/>
            <a:ext cx="25603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[보유 기술 · 인증]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566160"/>
            <a:ext cx="4572000" cy="7315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7" name="Oval 66"/>
          <p:cNvSpPr/>
          <p:nvPr/>
        </p:nvSpPr>
        <p:spPr>
          <a:xfrm>
            <a:off x="594360" y="3739896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05840" y="3685032"/>
            <a:ext cx="25603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00" b="1">
                <a:solidFill>
                  <a:srgbClr val="1A2233"/>
                </a:solidFill>
                <a:latin typeface="Malgun Gothic"/>
                <a:ea typeface="Malgun Gothic"/>
              </a:rPr>
              <a:t>보안 · 운영 체계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05840" y="3922776"/>
            <a:ext cx="25603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[인증 · 운영 경험]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389120"/>
            <a:ext cx="4572000" cy="7315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36000" tIns="18000" bIns="18000"/>
          <a:lstStyle/>
          <a:p>
            <a:pPr algn="l"/>
            <a:r>
              <a:rPr sz="900" b="0">
                <a:solidFill>
                  <a:srgbClr val="1A2233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1" name="Oval 70"/>
          <p:cNvSpPr/>
          <p:nvPr/>
        </p:nvSpPr>
        <p:spPr>
          <a:xfrm>
            <a:off x="594360" y="4562856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5840" y="4507992"/>
            <a:ext cx="25603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000" b="1">
                <a:solidFill>
                  <a:srgbClr val="1A2233"/>
                </a:solidFill>
                <a:latin typeface="Malgun Gothic"/>
                <a:ea typeface="Malgun Gothic"/>
              </a:rPr>
              <a:t>업무 도메인 이해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5840" y="4745736"/>
            <a:ext cx="256032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850" b="0">
                <a:solidFill>
                  <a:srgbClr val="5A6577"/>
                </a:solidFill>
                <a:latin typeface="Malgun Gothic"/>
                <a:ea typeface="Malgun Gothic"/>
              </a:rPr>
              <a:t>[산업 · 업무 경험]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94960" y="1463040"/>
            <a:ext cx="578815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l"/>
            <a:r>
              <a:rPr sz="1150" b="1">
                <a:solidFill>
                  <a:srgbClr val="1B2A4A"/>
                </a:solidFill>
                <a:latin typeface="Malgun Gothic"/>
                <a:ea typeface="Malgun Gothic"/>
              </a:rPr>
              <a:t>주요 레퍼런스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394960" y="1792224"/>
            <a:ext cx="6336792" cy="0"/>
          </a:xfrm>
          <a:prstGeom prst="line">
            <a:avLst/>
          </a:prstGeom>
          <a:ln w="12700">
            <a:solidFill>
              <a:srgbClr val="DD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11311128" y="1527048"/>
            <a:ext cx="420624" cy="18288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36000" tIns="18000" bIns="18000"/>
          <a:lstStyle/>
          <a:p>
            <a:pPr algn="ctr"/>
            <a:r>
              <a:rPr sz="800" b="1">
                <a:solidFill>
                  <a:srgbClr val="9A5B00"/>
                </a:solidFill>
                <a:latin typeface="Malgun Gothic"/>
                <a:ea typeface="Malgun Gothic"/>
              </a:rPr>
              <a:t>예시</a:t>
            </a:r>
          </a:p>
        </p:txBody>
      </p:sp>
      <p:graphicFrame>
        <p:nvGraphicFramePr>
          <p:cNvPr id="77" name="Table 76"/>
          <p:cNvGraphicFramePr>
            <a:graphicFrameLocks noGrp="1"/>
          </p:cNvGraphicFramePr>
          <p:nvPr/>
        </p:nvGraphicFramePr>
        <p:xfrm>
          <a:off x="5394960" y="1920240"/>
          <a:ext cx="6336792" cy="28529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280160"/>
                <a:gridCol w="1097280"/>
                <a:gridCol w="158191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프로젝트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고객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범위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[AI 챗봇 구축]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[고객 A]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[YYYY]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[전사]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[문서 검색 · RAG]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[고객 B]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[YYYY]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[본사]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[데이터 플랫폼]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[고객 C]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[YYYY]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[법인]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[업무 자동화 Agent]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[고객 D]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[YYYY]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[공장]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부록-2.  투입 인력 구성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역할별 핵심 인력과 자격 · 경력을 제시합니다 (이력서는 별첨)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79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188720"/>
                <a:gridCol w="1005840"/>
                <a:gridCol w="2743200"/>
                <a:gridCol w="2926080"/>
                <a:gridCol w="176479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역할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성명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등급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주요 경력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담당 업무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투입률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PM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[성명]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특급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[AI 프로젝트 N건]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총괄 · 일정 · 이슈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100%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기획 리드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[성명]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고급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[화면 · 데이터 설계]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요구 · 화면설계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100%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리드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[성명]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고급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[LLM · RAG N건]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엔진 · 품질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100%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 리드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[성명]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고급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[웹 · 연계 N건]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서비스 개발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100%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보안 · 인프라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[성명]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중급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[보안 · 클라우드]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환경 · 보안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50%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부록-3.  용어 정의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제안서 · 화면설계서에서 공통으로 사용하는 용어를 정의합니다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79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3108960"/>
                <a:gridCol w="597103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용어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영문 · 약어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Assistant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–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사내 지식을 기반으로 질문에 답하는 AI 서비스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Retrieval-Augmented Generation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문서를 먼저 검색하고 그 근거로 답변을 생성하는 방식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임베딩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Embedding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 · 문장을 의미 검색이 가능한 벡터로 변환하는 처리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Agent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Agent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특정 업무를 단계적으로 수행하도록 구성된 AI 기능 단위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가드레일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Guardrail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 응답의 안전 · 품질을 통제하는 규칙 · 검증 장치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출처(근거) 패널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Source Panel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답변의 근거 문서를 보여주는 화면 영역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UAT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User Acceptance Test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현업 사용자가 수행하는 인수 테스트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부록-4.  요구사항 · 기능 · 화면 추적표 (RTM)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요구사항이 기능 · 화면 · 테스트까지 이어지는지 추적합니다. 화면설계서의 요구사항 추적표와 동일 ID를 사용합니다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1" cy="411479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97280"/>
                <a:gridCol w="3291840"/>
                <a:gridCol w="1097280"/>
                <a:gridCol w="1554480"/>
                <a:gridCol w="1828800"/>
                <a:gridCol w="1371600"/>
                <a:gridCol w="1033271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요구사항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요구사항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기능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화면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정의서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테스트 ID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우선순위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SSO로 로그인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AUTH-001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IF-001, MSG-001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TC-001, 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자연어 질의에 근거와 함께 답변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FN-02, 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CHT-001, 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AI-001, IF-002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TC-003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REQ-003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답변에 대한 피드백 수집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CHT-002-P1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AI-001, KPI-004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TC-004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이용 현황 대시보드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FN-08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DSH-001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KPI-001~004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TC-005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REQ-005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관리자 사용자 · 권한 관리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FN-11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ADM-010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MSG-003, BT-001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TC-006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REQ-006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문서 임베딩 관리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FN-12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ADM-020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BT-002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TC-007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6027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REQ-007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알림 수신 · 확인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FN-09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NTF-001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NT-001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TC-008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P2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부록-5.  사전 협의 사항 및 협조 요청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설계 전 확정이 필요한 사항과 원활한 추진을 위한 협조 사항입니다</a:t>
            </a: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30088" y="6437376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457200" y="1554480"/>
          <a:ext cx="11274552" cy="4114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2194560"/>
                <a:gridCol w="4206240"/>
                <a:gridCol w="2194560"/>
                <a:gridCol w="1764792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항목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내용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협의 · 요청 대상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확정 시점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3F5F9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협의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채널 · 진입 방식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그룹웨어 메뉴 연계 가능 여부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[IT 조직]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협의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데이터 제공 방식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게시판 문서 API · 배치 제공 범위 · 주기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[IT · 현업]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협의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권한 · 계정 연동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SSO 방식 · 권한 메타 제공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[보안 · 인프라]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협조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현업 대표단 지정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부서별 대표 · 검증 인력 확정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[현업 조직]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협조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보안 심의 일정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개인정보 영향평가 · 보안 심의 사전 일정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[보안 조직]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M2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3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협조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환경 · 계정 제공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개발 · 검증 환경 · AI 계정 제공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93A5"/>
                          </a:solidFill>
                          <a:latin typeface="Malgun Gothic"/>
                          <a:ea typeface="Malgun Gothic"/>
                        </a:rPr>
                        <a:t>[인프라]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A2233"/>
                          </a:solidFill>
                          <a:latin typeface="Malgun Gothic"/>
                          <a:ea typeface="Malgun Gothic"/>
                        </a:rPr>
                        <a:t>M1</a:t>
                      </a:r>
                    </a:p>
                  </a:txBody>
                  <a:tcPr marL="54000" marR="36000" marT="18000" marB="18000" anchor="ctr">
                    <a:lnL w="9525" cap="flat" cmpd="sng" algn="ctr">
                      <a:solidFill>
                        <a:srgbClr val="DDE2EA"/>
                      </a:solidFill>
                    </a:lnL>
                    <a:lnR w="9525" cap="flat" cmpd="sng" algn="ctr">
                      <a:solidFill>
                        <a:srgbClr val="DDE2EA"/>
                      </a:solidFill>
                    </a:lnR>
                    <a:lnT w="9525" cap="flat" cmpd="sng" algn="ctr">
                      <a:solidFill>
                        <a:srgbClr val="DDE2EA"/>
                      </a:solidFill>
                    </a:lnT>
                    <a:lnB w="9525" cap="flat" cmpd="sng" algn="ctr">
                      <a:solidFill>
                        <a:srgbClr val="DDE2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[고객사] 업무 AI Assistant 구축 제안서  |  [제안사 · 부서명]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S Proposal Navy">
  <a:themeElements>
    <a:clrScheme name="VAS Proposal Navy">
      <a:dk1>
        <a:srgbClr val="1A2233"/>
      </a:dk1>
      <a:lt1>
        <a:srgbClr val="FFFFFF"/>
      </a:lt1>
      <a:dk2>
        <a:srgbClr val="1B2A4A"/>
      </a:dk2>
      <a:lt2>
        <a:srgbClr val="E8ECF3"/>
      </a:lt2>
      <a:accent1>
        <a:srgbClr val="1B2A4A"/>
      </a:accent1>
      <a:accent2>
        <a:srgbClr val="2E4472"/>
      </a:accent2>
      <a:accent3>
        <a:srgbClr val="5A6577"/>
      </a:accent3>
      <a:accent4>
        <a:srgbClr val="DDE2EA"/>
      </a:accent4>
      <a:accent5>
        <a:srgbClr val="AFC0DD"/>
      </a:accent5>
      <a:accent6>
        <a:srgbClr val="7A8699"/>
      </a:accent6>
      <a:hlink>
        <a:srgbClr val="2E4472"/>
      </a:hlink>
      <a:folHlink>
        <a:srgbClr val="5A6577"/>
      </a:folHlink>
    </a:clrScheme>
    <a:fontScheme name="VAS Proposal Navy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55c7dc3-d019-40fa-a91f-518114ee30cb}" enabled="1" method="Standard" siteId="{a0863201-77ea-4254-a23b-acb1c17a3ad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4622</Words>
  <Application>Microsoft Macintosh PowerPoint</Application>
  <PresentationFormat>와이드스크린</PresentationFormat>
  <Paragraphs>1012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Malgun Gothic</vt:lpstr>
      <vt:lpstr>Arial</vt:lpstr>
      <vt:lpstr>VAS Proposal Navy</vt:lpstr>
      <vt:lpstr>스판덱스 베트남법인 공정 AI Agent 구축 제안서</vt:lpstr>
      <vt:lpstr>PowerPoint 프레젠테이션</vt:lpstr>
      <vt:lpstr>제안 요약</vt:lpstr>
      <vt:lpstr>제안 배경</vt:lpstr>
      <vt:lpstr>Ⅰ-1.  현 VAS 활용 현황</vt:lpstr>
      <vt:lpstr>Ⅰ-2.  로드맵</vt:lpstr>
      <vt:lpstr>1차 구축 방안</vt:lpstr>
      <vt:lpstr>Ⅱ-1.  구축 범위 및 아키텍처</vt:lpstr>
      <vt:lpstr>Ⅱ-2.  공정 용어 사전 구축</vt:lpstr>
      <vt:lpstr>Ⅱ-3.  활용 시나리오</vt:lpstr>
      <vt:lpstr>Ⅱ-4.  1차 특화 과제</vt:lpstr>
      <vt:lpstr>Ⅱ-5.  보안 및 운영 관리</vt:lpstr>
      <vt:lpstr>확장 방안</vt:lpstr>
      <vt:lpstr>Ⅲ-1.  2차 추진 과제 (베트남법인 AI Agent 고도화)</vt:lpstr>
      <vt:lpstr>Ⅲ-2.  단계별 서비스 범위</vt:lpstr>
      <vt:lpstr>Ⅲ-3.  추천 서비스 ① 일일 보고서 초안 작성</vt:lpstr>
      <vt:lpstr>Ⅲ-4.  추천 서비스 ② 품질 Lot 추적 · 클레임 대응</vt:lpstr>
      <vt:lpstr>Ⅲ-5.  추천 서비스 ③ 이탈 알림 조치 가이드</vt:lpstr>
      <vt:lpstr>Ⅲ-6.  추천 서비스 ④ 사절 원인 추정</vt:lpstr>
      <vt:lpstr>추진 계획</vt:lpstr>
      <vt:lpstr>Ⅳ-1.  추진 체계 및 일정</vt:lpstr>
      <vt:lpstr>Ⅳ-2.  운영 방안 및 협조 요청</vt:lpstr>
      <vt:lpstr>Ⅳ-3.  사전 협의 사항</vt:lpstr>
      <vt:lpstr>감사합니다</vt:lpstr>
    </vt:vector>
  </TitlesOfParts>
  <Company>효성ITX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스판덱스 베트남법인 공정 AI Agent 구축 제안서</dc:title>
  <dc:subject>PptxGenJS Presentation</dc:subject>
  <dc:creator>PptxGenJS</dc:creator>
  <cp:lastModifiedBy>이상윤 AI사업팀(LeeSangyun)</cp:lastModifiedBy>
  <cp:revision>4</cp:revision>
  <dcterms:created xsi:type="dcterms:W3CDTF">2026-10-12T05:13:43Z</dcterms:created>
  <dcterms:modified xsi:type="dcterms:W3CDTF">2026-10-12T05:20:23Z</dcterms:modified>
</cp:coreProperties>
</file>