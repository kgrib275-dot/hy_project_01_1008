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5"/>
    <p:sldId id="275" r:id="rId6"/>
    <p:sldId id="277" r:id="rId4"/>
    <p:sldId id="282" r:id="rId33"/>
    <p:sldId id="283" r:id="rId34"/>
    <p:sldId id="284" r:id="rId35"/>
    <p:sldId id="278" r:id="rId3"/>
    <p:sldId id="285" r:id="rId36"/>
    <p:sldId id="286" r:id="rId37"/>
    <p:sldId id="287" r:id="rId38"/>
    <p:sldId id="288" r:id="rId39"/>
    <p:sldId id="279" r:id="rId2"/>
    <p:sldId id="289" r:id="rId40"/>
    <p:sldId id="290" r:id="rId41"/>
    <p:sldId id="280" r:id="rId31"/>
    <p:sldId id="291" r:id="rId42"/>
    <p:sldId id="281" r:id="rId3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3A71BB2-2F22-0215-71A9-BE9D6C4D4080}">
          <p14:sldIdLst>
            <p14:sldId id="256"/>
            <p14:sldId id="257"/>
            <p14:sldId id="258"/>
          </p14:sldIdLst>
        </p14:section>
        <p14:section name="Ⅰ. 제안 배경" id="{E78435F2-0C9B-C654-7809-1CCBAAFBB4EE}">
          <p14:sldIdLst>
            <p14:sldId id="259"/>
            <p14:sldId id="260"/>
            <p14:sldId id="261"/>
          </p14:sldIdLst>
        </p14:section>
        <p14:section name="Ⅱ. 1차 구축 방안" id="{4CCBFCED-8800-2F38-1CDC-351F5BF9442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Ⅲ. 확장 방안" id="{EDD8E1DB-60A6-45F4-7112-4343A779F88F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Ⅳ. 추진 계획" id="{AB5BEA68-3194-22C3-079F-0D304DC885E4}">
          <p14:sldIdLst>
            <p14:sldId id="275"/>
            <p14:sldId id="276"/>
            <p14:sldId id="277"/>
            <p14:sldId id="278"/>
          </p14:sldIdLst>
        </p14:section>
        <p14:section name="마무리" id="{40A56546-3D27-CB4A-22A8-A673F8889842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4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21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_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82512"/>
            <a:ext cx="1161341" cy="155448"/>
          </a:xfrm>
          <a:prstGeom prst="rect">
            <a:avLst/>
          </a:prstGeom>
        </p:spPr>
      </p:pic>
      <p:pic>
        <p:nvPicPr>
          <p:cNvPr id="3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158" y="6382512"/>
            <a:ext cx="1644857" cy="1554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화 면  설 계 서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868680" y="2157984"/>
            <a:ext cx="566928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868680" y="2377440"/>
            <a:ext cx="10424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제안서 제목</a:t>
            </a:r>
            <a:endParaRPr lang="en-US" sz="4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868680" y="3886200"/>
            <a:ext cx="104241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부제</a:t>
            </a:r>
            <a:endParaRPr lang="en-US" sz="2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0" y="5257800"/>
            <a:ext cx="121916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작성일 · 작성 부서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2_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96814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accent5"/>
                </a:solidFill>
              </a:rPr>
              <a:t>CONTENTS</a:t>
            </a:r>
            <a:endParaRPr lang="en-US" sz="1000" dirty="0"/>
          </a:p>
        </p:txBody>
      </p:sp>
      <p:pic>
        <p:nvPicPr>
          <p:cNvPr id="5" name="Image 0" descr="/Users/leesangyun/VT_VAS_PRJ/01_제안_착수/build/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080760"/>
            <a:ext cx="956399" cy="1280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28818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목차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3_간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96814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accent5"/>
                </a:solidFill>
              </a:rPr>
              <a:t>PART</a:t>
            </a:r>
            <a:endParaRPr lang="en-US" sz="1000" dirty="0"/>
          </a:p>
        </p:txBody>
      </p:sp>
      <p:pic>
        <p:nvPicPr>
          <p:cNvPr id="5" name="Image 0" descr="/Users/leesangyun/VT_VAS_PRJ/01_제안_착수/build/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080760"/>
            <a:ext cx="956399" cy="128016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3288182"/>
            <a:ext cx="2743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4480560" y="2331720"/>
            <a:ext cx="7132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장 제목</a:t>
            </a:r>
            <a:endParaRPr lang="en-US" sz="30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480560" y="3108960"/>
            <a:ext cx="7132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장 요지</a:t>
            </a:r>
            <a:endParaRPr lang="en-US" sz="140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4480560" y="3977640"/>
            <a:ext cx="7132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177800" indent="-177800">
              <a:spcAft>
                <a:spcPts val="600"/>
              </a:spcAft>
              <a:buSzPct val="100000"/>
              <a:buChar char="•"/>
              <a:defRPr lang="en-US" sz="1300" dirty="0">
                <a:solidFill>
                  <a:schemeClr val="tx1"/>
                </a:solidFill>
              </a:defRPr>
            </a:lvl1pPr>
          </a:lstStyle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하위 항목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4_내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16736"/>
            <a:ext cx="1127729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819770" cy="109728"/>
          </a:xfrm>
          <a:prstGeom prst="rect">
            <a:avLst/>
          </a:prstGeom>
        </p:spPr>
      </p:pic>
      <p:pic>
        <p:nvPicPr>
          <p:cNvPr id="4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420" y="6510528"/>
            <a:ext cx="1161075" cy="10972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310896"/>
            <a:ext cx="1127729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Ⅰ-1.  장 제목</a:t>
            </a:r>
            <a:endParaRPr lang="en-US" sz="2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841248"/>
            <a:ext cx="11277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거버닝 메시지 — 이 장의 결론 한 문장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457200" y="6144768"/>
            <a:ext cx="11277295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출처 · 주석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5_마무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82512"/>
            <a:ext cx="1161341" cy="155448"/>
          </a:xfrm>
          <a:prstGeom prst="rect">
            <a:avLst/>
          </a:prstGeom>
        </p:spPr>
      </p:pic>
      <p:pic>
        <p:nvPicPr>
          <p:cNvPr id="3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158" y="6382512"/>
            <a:ext cx="1644857" cy="1554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8680" y="2514600"/>
            <a:ext cx="54864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868680" y="2697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감사합니다</a:t>
            </a:r>
            <a:endParaRPr lang="en-US" sz="3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68680" y="361188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마무리 문구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[고객사]</a:t>
            </a:r>
          </a:p>
          <a:p>
            <a:r>
              <a:t>AI Assistant 화면 설계서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서비스 전체 화면 정의 · 정의서 · 다이어그램 (표준 양식 v1.0)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YYYY. MM. DD</a:t>
            </a:r>
          </a:p>
          <a:p>
            <a:r>
              <a:t>[작성 부서 · 작성자]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문서 정보 및 개정 이력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화면설계서의 버전 · 작성자 · 검토 현황을 관리하며, 제안서와 동일한 ID 체계를 사용합니다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기능 ID(FN) · 요구사항 ID(REQ)는 제안서와 동일하며, 변경 시 두 문서를 함께 갱신합니다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1206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개정 이력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566928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457200" y="1920240"/>
          <a:ext cx="5669280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731520"/>
                <a:gridCol w="1188720"/>
                <a:gridCol w="1005840"/>
                <a:gridCol w="21945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Ver.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[작성자]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최초 작성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[작성자]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검토 의견 반영]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 58"/>
          <p:cNvSpPr/>
          <p:nvPr/>
        </p:nvSpPr>
        <p:spPr>
          <a:xfrm>
            <a:off x="6400800" y="1463040"/>
            <a:ext cx="47823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문서 정보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0" y="1792224"/>
            <a:ext cx="53309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400800" y="1920240"/>
          <a:ext cx="5330952" cy="2560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3959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Assistant (사내 지식 기반 업무 AI 서비스)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[기본 설계 / 상세 설계]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연관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제안서 v1.0 · 요구사항 정의서 · 테스트 시나리오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/ 검토 /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[작성자] / [검토자] / [승인자]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독자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 · 디자인 · 개발 · 현업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80560" y="14081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74920" y="13533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설계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4920" y="17007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범위 · 화면 목록 · 메뉴 구조 · 화면 이동 · 권한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80560" y="21488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480560" y="23225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22677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설계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6151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표기 규칙 · 레이아웃 · 컴포넌트 · 상태 · 디자인 · ID 체계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0632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80560" y="32369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1821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화면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5295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17개 화면의 와이어프레임 · 설명 · 정책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3977639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80560" y="41513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0965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정의서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44439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권한 · 메시지 · 입력 · 코드 · 연계 · 배치 · 알림 · AI · 지표 · 추적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48920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480560" y="50657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50109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다이어그램 · 운영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53583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아키텍처 · 처리 흐름 · ERD · 로드맵 · 비기능 · UAT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80560" y="58064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문서 사용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화면설계서를 읽고 작성하는 기준과 구성을 안내합니다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회색 [대괄호]는 교체할 입력값이며, "예시" 표시 페이지는 프로젝트 내용으로 바꿔 사용합니다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2697480" cy="32004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169164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" y="1691640"/>
            <a:ext cx="21031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  <a:ea typeface="Malgun Gothic"/>
              </a:rPr>
              <a:t>구성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214884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설계 개요 · 설계 기준 (표기 · 컴포넌트)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278892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화면 정의 17종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342900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정의서 12종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069079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다이어그램 · 운영 6종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0" y="1554480"/>
            <a:ext cx="2697480" cy="3200400"/>
          </a:xfrm>
          <a:prstGeom prst="rect">
            <a:avLst/>
          </a:prstGeom>
          <a:solidFill>
            <a:srgbClr val="F3F5F9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3429000" y="169164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94760" y="1691640"/>
            <a:ext cx="21031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  <a:ea typeface="Malgun Gothic"/>
              </a:rPr>
              <a:t>사용 방법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29000" y="214884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필요한 페이지를 복사해 프로젝트 파일에 붙여넣기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29000" y="278892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[대괄호] 값을 실제 내용으로 교체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29000" y="342900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번호 마커 ↔ 설명 번호 1:1 유지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29000" y="4069079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미결 사항은 이슈표로 이관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1554480"/>
            <a:ext cx="2697480" cy="32004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Oval 70"/>
          <p:cNvSpPr/>
          <p:nvPr/>
        </p:nvSpPr>
        <p:spPr>
          <a:xfrm>
            <a:off x="6263640" y="169164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1691640"/>
            <a:ext cx="21031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  <a:ea typeface="Malgun Gothic"/>
              </a:rPr>
              <a:t>작성 원칙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214884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한 페이지 = 한 화면(또는 한 정의서)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278892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상태별 화면(로딩 · 빈 값 · 오류 · 권한 없음) 정의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342900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문구는 메시지 ID로 관리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4069079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용어는 용어 정의와 일치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1554480"/>
            <a:ext cx="2697480" cy="32004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Oval 77"/>
          <p:cNvSpPr/>
          <p:nvPr/>
        </p:nvSpPr>
        <p:spPr>
          <a:xfrm>
            <a:off x="9098280" y="169164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64040" y="1691640"/>
            <a:ext cx="21031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  <a:ea typeface="Malgun Gothic"/>
              </a:rPr>
              <a:t>제출 전 점검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98280" y="214884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화면 ID 중복 · 누락 확인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98280" y="278892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권한 · 개인정보 · 보안 기준 명시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98280" y="3429000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개정이력 · 버전 갱신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4069079"/>
            <a:ext cx="24688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•  검수 체크리스트(Ⅳ-5) 통과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029200"/>
            <a:ext cx="11274552" cy="640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300" b="1">
                <a:solidFill>
                  <a:srgbClr val="1B2A4A"/>
                </a:solidFill>
                <a:latin typeface="Malgun Gothic"/>
                <a:ea typeface="Malgun Gothic"/>
              </a:rPr>
              <a:t>한 장으로 보는 원칙:  화면 → 번호 마커 → 설명 → 정책 · 예외 → 정의서(ID 연결) → 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설계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서비스의 설계 범위와 화면 구성, 이동 흐름, 권한 체계를 정의합니다.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서비스 및 설계 범위</a:t>
            </a:r>
          </a:p>
          <a:p>
            <a:r>
              <a:t>화면 목록 · 메뉴 구조</a:t>
            </a:r>
          </a:p>
          <a:p>
            <a:r>
              <a:t>화면 이동 정의 · 권한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Ⅰ-1.  서비스 및 설계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제안서의 14개 기능(FN)을 17개 화면으로 구현하며, 모든 화면은 공통 설계 기준을 따릅니다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서비스 개요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사내 지식 기반 AI 질의응답 서비스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SSO · 권한 기반으로 출처와 함께 답변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PC 웹 · 모바일 웹 · 관리자 콘솔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제안서 Ⅱ-1 참조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1104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4261104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설계 범위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포함: 챗봇 · 검색 · 저널 · 대시보드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포함: 마이페이지 · 알림 · 관리자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제외: 외부 시스템 쓰기 연동 · 음성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8264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범위 변경은 이슈표로 관리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5008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설계 기준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02168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한 화면 · 한 목적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모든 화면에 5개 상태 정의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문구는 메시지 ID로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8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표기 규칙 Ⅱ-1 참조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Ⅰ-2.  화면 목록 (Screen List)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전체 화면을 ID 기준으로 목록화하고 기능 · 요구사항과 연결합니다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화면 ID = [시스템코드]-[기능코드]-[순번]. 팝업은 -P, 상태 화면은 -S 접미사를 사용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2428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286000"/>
                <a:gridCol w="1188720"/>
                <a:gridCol w="1920240"/>
                <a:gridCol w="1554480"/>
                <a:gridCol w="118872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유형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04, 05, 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· 출처 패널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피드백 팝업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팝업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SRC-001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통합검색 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JNL-001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추천 저널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 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MYP-001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마이페이지 · 설정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알림센터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BRD-001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공지사항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 ·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신청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· 권한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 ·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ADM-020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· 임베딩 현황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 ·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ADM-030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 · 통계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 ·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등록 · 수정 폼 (표준)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공통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표준 양식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MOB-001~003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 챗봇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후속 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Ⅰ-3.  메뉴 구조 (정보 구조, IA)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사용자 메뉴와 관리자 메뉴를 구분하고, 관리자 메뉴는 역할에 따라 노출합니다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공통: 로그인(AUTH-001) · 오류/점검(ERR-001~003) · 모바일(MOB-001~003)   |   관리자 메뉴는 시스템 관리자에게만 노출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AI Assistant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80760" y="1965960"/>
            <a:ext cx="0" cy="18288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0764" y="2148840"/>
            <a:ext cx="9107424" cy="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40764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57200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메인 (CHT-001)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대화 (CHT-002)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피드백 (CHT-002-P1)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17620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734056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검색 · 저널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34056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통합검색 (SRC-001)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34056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추천 저널 (JNL-001)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94476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010912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종합현황 (DSH-001)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371332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287768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마이페이지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7768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설정 (MYP-001)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87768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알림 (NTF-001)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87768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공지 (BRD-001)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87768" y="434340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권한 신청 (AUT-010)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648188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564624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64624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사용자 (ADM-010)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64624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임베딩 (ADM-020)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64624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로그 (ADM-030)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Ⅰ-4.  화면 이동 정의 (링크 정의서)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 간 이동 조건과 전달 값을 정의하여 연결 누락과 오류를 방지합니다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2011680"/>
                <a:gridCol w="1645920"/>
                <a:gridCol w="2103120"/>
                <a:gridCol w="1005840"/>
                <a:gridCol w="1371600"/>
                <a:gridCol w="26791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출발 (ID)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트리거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도착 (ID)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파라미터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조건 · 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로그인 (AUTH-001)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[로그인] 성공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 (CHT-001)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직전 화면이 있으면 복귀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 (CHT-001)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질문 전송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(CHT-002)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session_id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신규 세션 생성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(CHT-002)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[싫어요] 클릭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(CHT-002-P1)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팝업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응답 완료 건만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(CHT-002)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[원문 열람]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원문 (외부)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새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doc_id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열람 권한 보유 건만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 (CHT-001)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검색창 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통합검색 (SRC-001)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keyword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2자 이상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알림센터 (NTF-001)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행 클릭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[연결 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target_id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읽음 처리 후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공통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없음 접근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신청 (AUT-010)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menu_id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[권한 신청] 버튼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공통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서버 오류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오류 (ERR-002)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err_id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3회 재시도 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Ⅰ-5.  사용자 및 권한 (역할 · 메뉴)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역할별 접근 가능한 메뉴를 정의합니다. 데이터 범위(법인 · 부서)는 기존 권한 체계를 따릅니다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● 전체 허용  ○ 조건부 허용(비고 참조)  – 불가 / 메뉴 비노출   |   역할 중복 시 상위 권한 우선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560320"/>
                <a:gridCol w="1188720"/>
                <a:gridCol w="1097280"/>
                <a:gridCol w="1097280"/>
                <a:gridCol w="1371600"/>
                <a:gridCol w="12161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메뉴 ·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팀 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·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CHT-001, 002, SRC-001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추천 저널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JNL-001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마이페이지 · 알림 · 공지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MYP-001, NTF-001, BRD-001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신청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· 권한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· 임베딩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ADM-020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 · 통계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ADM-030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설계 기준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모든 화면에 공통 적용되는 표기 규칙 · 레이아웃 · 컴포넌트 · 상태 · 디자인 기준입니다.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표기 규칙 · 공통 레이아웃</a:t>
            </a:r>
          </a:p>
          <a:p>
            <a:r>
              <a:t>공통 컴포넌트 · 화면 상태</a:t>
            </a:r>
          </a:p>
          <a:p>
            <a:r>
              <a:t>디자인 가이드 · ID 체계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Ⅱ-1.  문서 구성 및 표기 규칙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 정의 페이지는 "메타 정보 → 와이어프레임 → 번호 설명 → 정책 · 논의" 구조로 통일합니다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상태별 화면 ID 접미사: -S1 로딩 · -S2 빈 값 · -S3 오류 · -S4 권한 없음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45720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화면 정의 페이지 구조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51206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7200" y="1920240"/>
            <a:ext cx="5120640" cy="4023360"/>
          </a:xfrm>
          <a:prstGeom prst="roundRect">
            <a:avLst>
              <a:gd name="adj" fmla="val 204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2057400"/>
            <a:ext cx="5029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7280" y="2057400"/>
            <a:ext cx="10515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XXX-001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94560" y="2057400"/>
            <a:ext cx="5029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7480" y="2057400"/>
            <a:ext cx="14173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[대메뉴] &gt; [화면]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2057400"/>
            <a:ext cx="5029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2057400"/>
            <a:ext cx="777239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[역할]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2423160"/>
            <a:ext cx="3017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와이어프레임 영역</a:t>
            </a:r>
          </a:p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(화면 캡처 · 요소 번호 표시)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2606040"/>
            <a:ext cx="2743200" cy="7315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요소 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3611880"/>
            <a:ext cx="2743200" cy="7315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요소 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617720"/>
            <a:ext cx="2743200" cy="7315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요소 C</a:t>
            </a:r>
          </a:p>
        </p:txBody>
      </p:sp>
      <p:sp>
        <p:nvSpPr>
          <p:cNvPr id="69" name="Oval 68"/>
          <p:cNvSpPr/>
          <p:nvPr/>
        </p:nvSpPr>
        <p:spPr>
          <a:xfrm>
            <a:off x="621792" y="25420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70" name="Oval 69"/>
          <p:cNvSpPr/>
          <p:nvPr/>
        </p:nvSpPr>
        <p:spPr>
          <a:xfrm>
            <a:off x="621792" y="35478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71" name="Oval 70"/>
          <p:cNvSpPr/>
          <p:nvPr/>
        </p:nvSpPr>
        <p:spPr>
          <a:xfrm>
            <a:off x="621792" y="4553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49039" y="2423160"/>
            <a:ext cx="1691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설명 (Description)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2660904"/>
            <a:ext cx="1691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1  요소 A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[동작 · 표시 규칙]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49039" y="3438144"/>
            <a:ext cx="1691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2  요소 B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[동작 · 표시 규칙]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39" y="4215384"/>
            <a:ext cx="1691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3  요소 C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[동작 · 표시 규칙]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49039" y="4992624"/>
            <a:ext cx="1691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정책 · 논의 필요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[동작 · 표시 규칙]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160" y="1463040"/>
            <a:ext cx="53309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표기 규칙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52160" y="1792224"/>
            <a:ext cx="587959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5852160" y="1920240"/>
          <a:ext cx="5879592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2103120"/>
                <a:gridCol w="263347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표기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번호 마커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빨간 원 ①②③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와이어프레임 요소와 설명 번호 1:1 매칭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버전 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V01 YYMMDD Added / Modified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변경 · 추가 · 삭제 이력을 페이지 단위로 추적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섹션 번호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Ⅱ-1.  [화면명]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목차 · 간지의 대분류와 일치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[시스템]-[기능]-[3자리]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예) AIC-SRC-001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· 팝업 · 상태 화면 모두 고유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 필요 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[대괄호] 회색 글자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 시 실제 내용으로 교체 (남은 [ ] = 누락)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노출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"큰따옴표"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화면에 그대로 노출되는 문구 원문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(주황 라벨)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샘플 페이지 표시. 사용 시 라벨 삭제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신규 / 기존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남색 테두리 / 회색 박스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구성도 · 흐름도에서 신규 개발과 기존 유지 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Ⅱ-2.  공통 레이아웃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모든 화면은 GNB · LNB · 컨텐츠 영역의 공통 틀을 사용하며, 영역별 규격을 통일합니다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기준 해상도 1920×1080 · 최소 1366px 대응 · 컨텐츠 최대 너비 1,200px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7498079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7498079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1627632"/>
            <a:ext cx="1097280" cy="310896"/>
          </a:xfrm>
          <a:prstGeom prst="rect">
            <a:avLst/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[로고]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164592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80" y="164592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164592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대시보드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164592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마이페이지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164592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한국어 ▾    알림 ●    홍길동 ▾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2011680"/>
            <a:ext cx="1645920" cy="39319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LNB</a:t>
            </a:r>
          </a:p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(메뉴 · 대화 목록)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214884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페이지 타이틀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0" y="2450592"/>
            <a:ext cx="3200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홈 &gt; 챗봇 &gt; 메인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35040" y="214884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보조 버튼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03720" y="2148840"/>
            <a:ext cx="86868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주요 버튼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2788920"/>
            <a:ext cx="5486400" cy="260604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컨텐츠 영역</a:t>
            </a:r>
          </a:p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(화면별 와이어프레임)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553212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푸터 · 저작권 · 문의</a:t>
            </a:r>
          </a:p>
        </p:txBody>
      </p:sp>
      <p:sp>
        <p:nvSpPr>
          <p:cNvPr id="71" name="Oval 70"/>
          <p:cNvSpPr/>
          <p:nvPr/>
        </p:nvSpPr>
        <p:spPr>
          <a:xfrm>
            <a:off x="502920" y="1600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72" name="Oval 71"/>
          <p:cNvSpPr/>
          <p:nvPr/>
        </p:nvSpPr>
        <p:spPr>
          <a:xfrm>
            <a:off x="475488" y="20574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73" name="Oval 72"/>
          <p:cNvSpPr/>
          <p:nvPr/>
        </p:nvSpPr>
        <p:spPr>
          <a:xfrm>
            <a:off x="2148840" y="21762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4" name="Oval 73"/>
          <p:cNvSpPr/>
          <p:nvPr/>
        </p:nvSpPr>
        <p:spPr>
          <a:xfrm>
            <a:off x="2148840" y="28346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75" name="Oval 74"/>
          <p:cNvSpPr/>
          <p:nvPr/>
        </p:nvSpPr>
        <p:spPr>
          <a:xfrm>
            <a:off x="2148840" y="55778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1463040"/>
            <a:ext cx="29535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영역별 규격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229600" y="1792224"/>
            <a:ext cx="35021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8229600" y="1920240"/>
          <a:ext cx="3502152" cy="3822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"/>
                <a:gridCol w="914400"/>
                <a:gridCol w="226771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규칙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GNB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높이 56px, 대메뉴 최대 6개, 알림 · 언어 ·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LNB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너비 240px, 접기 가능, 대화 · 하위 메뉴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타이틀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H1 + 경로(Breadcrumb) + 버튼 영역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컨텐츠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여백 24px, 최대 1,200px, 카드 단위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푸터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저작권 · 문의, 고정 노출 안 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Ⅱ-3.  공통 컴포넌트 ① 입력 · 선택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 전반에서 동일하게 사용하는 입력 · 선택 컴포넌트의 형태와 사용 규칙입니다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컴포넌트 변경은 디자인 시스템 변경 요청으로 관리하며, 화면별 설계에서는 변경점만 기술합니다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버튼 (Button)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1920240"/>
            <a:ext cx="914400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Primary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45919" y="1920240"/>
            <a:ext cx="100584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1B2A4A"/>
                </a:solidFill>
                <a:latin typeface="Malgun Gothic"/>
                <a:ea typeface="Malgun Gothic"/>
              </a:rPr>
              <a:t>Secondary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88920" y="1920240"/>
            <a:ext cx="914400" cy="310896"/>
          </a:xfrm>
          <a:prstGeom prst="roundRect">
            <a:avLst>
              <a:gd name="adj" fmla="val 12000"/>
            </a:avLst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Disabled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2377440"/>
            <a:ext cx="640080" cy="23774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Small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Primary는 화면당 1개. 취소 · 보조는 Secondary. 비활성은 사유를 툴팁으로 안내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5676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265676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입력창 (Input)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02836" y="1920240"/>
            <a:ext cx="1508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48756" y="1920240"/>
            <a:ext cx="1508760" cy="310896"/>
          </a:xfrm>
          <a:prstGeom prst="rect">
            <a:avLst/>
          </a:prstGeom>
          <a:solidFill>
            <a:srgbClr val="FFFFFF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B2A4A"/>
                </a:solidFill>
                <a:latin typeface="Malgun Gothic"/>
                <a:ea typeface="Malgun Gothic"/>
              </a:rPr>
              <a:t>포커스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02836" y="2377440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B3261E"/>
                </a:solidFill>
                <a:latin typeface="Malgun Gothic"/>
                <a:ea typeface="Malgun Gothic"/>
              </a:rPr>
              <a:t>오류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48756" y="2377440"/>
            <a:ext cx="1508760" cy="310896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비활성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75404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상태: 기본 · 포커스 · 오류 · 비활성. 오류 시 입력창 하단에 적색 문구 노출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4152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8074152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드롭다운 · 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11312" y="192024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[선택]  ▾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312" y="2194560"/>
            <a:ext cx="1371600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1A2233"/>
                </a:solidFill>
                <a:latin typeface="Malgun Gothic"/>
                <a:ea typeface="Malgun Gothic"/>
              </a:rPr>
              <a:t>옵션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432304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1A2233"/>
                </a:solidFill>
                <a:latin typeface="Malgun Gothic"/>
                <a:ea typeface="Malgun Gothic"/>
              </a:rPr>
              <a:t>옵션 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11512" y="1920240"/>
            <a:ext cx="566928" cy="274320"/>
          </a:xfrm>
          <a:prstGeom prst="rect">
            <a:avLst/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</a:rPr>
              <a:t>탭 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378440" y="192024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탭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45368" y="192024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탭 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83879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목록은 최대 N개 노출 후 스크롤. 탭은 항상 1개 선택, 전환 시 하단 컨텐츠 교체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체크박스 · 라디오 · 토글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4114800"/>
            <a:ext cx="201168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" y="411480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체크박스</a:t>
            </a:r>
          </a:p>
        </p:txBody>
      </p:sp>
      <p:sp>
        <p:nvSpPr>
          <p:cNvPr id="83" name="Oval 82"/>
          <p:cNvSpPr/>
          <p:nvPr/>
        </p:nvSpPr>
        <p:spPr>
          <a:xfrm>
            <a:off x="594360" y="448056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" y="4480560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라디오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40280" y="4114800"/>
            <a:ext cx="5029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240280" y="4480560"/>
            <a:ext cx="502920" cy="219456"/>
          </a:xfrm>
          <a:prstGeom prst="roundRect">
            <a:avLst>
              <a:gd name="adj" fmla="val 12000"/>
            </a:avLst>
          </a:prstGeom>
          <a:solidFill>
            <a:srgbClr val="BF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6928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다중 선택은 체크박스, 단일 선택은 라디오, 즉시 반영 설정은 토글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65676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4265676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날짜 · 기간 선택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02836" y="4114800"/>
            <a:ext cx="17373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2026-10-01  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31636" y="411480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~ 2026-10-31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02836" y="4526280"/>
            <a:ext cx="566928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오늘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42916" y="4526280"/>
            <a:ext cx="566928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7일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82996" y="4526280"/>
            <a:ext cx="566928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30일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75404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기본 형식 YYYY-MM-DD. 시작일 ≤ 종료일. 기간 단축 버튼(오늘 · 7일 · 30일) 제공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74152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8074152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텍스트 영역 · 첨부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11312" y="411480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[텍스트 영역]                          0 / 500자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11312" y="4663440"/>
            <a:ext cx="3108960" cy="365760"/>
          </a:xfrm>
          <a:prstGeom prst="rect">
            <a:avLst/>
          </a:prstGeom>
          <a:solidFill>
            <a:srgbClr val="F3F5F9"/>
          </a:solidFill>
          <a:ln w="9525">
            <a:solidFill>
              <a:srgbClr val="8A93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파일을 끌어놓거나 [찾아보기]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83879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글자 수(0 / N) 표시. 첨부는 허용 형식 · 개수 · 용량을 명시하고 초과 시 메시지 안내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Ⅱ-4.  공통 컴포넌트 ② 표시 · 피드백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목록 · 알림 · 상태 · 팝업 컴포넌트의 형태와 사용 규칙입니다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컴포넌트 변경은 디자인 시스템 변경 요청으로 관리하며, 화면별 설계에서는 변경점만 기술합니다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그리드 · 페이지네이션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1920240"/>
            <a:ext cx="3108960" cy="219456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1">
                <a:solidFill>
                  <a:srgbClr val="1A2233"/>
                </a:solidFill>
                <a:latin typeface="Malgun Gothic"/>
                <a:ea typeface="Malgun Gothic"/>
              </a:rPr>
              <a:t>No        [컬럼 1]        [컬럼 2]        [컬럼 3]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2139696"/>
            <a:ext cx="3108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1         데이터          데이터          데이터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2359152"/>
            <a:ext cx="3108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00" b="0">
                <a:solidFill>
                  <a:srgbClr val="8A93A5"/>
                </a:solidFill>
                <a:latin typeface="Malgun Gothic"/>
                <a:ea typeface="Malgun Gothic"/>
              </a:rPr>
              <a:t>1         데이터          데이터          데이터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2670048"/>
            <a:ext cx="23774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1560" y="2670048"/>
            <a:ext cx="237744" cy="219456"/>
          </a:xfrm>
          <a:prstGeom prst="rect">
            <a:avLst/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25880" y="2670048"/>
            <a:ext cx="23774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2670048"/>
            <a:ext cx="23774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74519" y="2670048"/>
            <a:ext cx="23774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88920" y="2670048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20건 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기본 20건, 10/20/50/100 선택. 말줄임 셀은 호버 시 툴팁. 행 클릭 시 상세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65676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4265676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토스트 · 확인창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02836" y="1920240"/>
            <a:ext cx="1463040" cy="292608"/>
          </a:xfrm>
          <a:prstGeom prst="roundRect">
            <a:avLst>
              <a:gd name="adj" fmla="val 12000"/>
            </a:avLst>
          </a:prstGeom>
          <a:solidFill>
            <a:srgbClr val="33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저장되었습니다.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48756" y="1874520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6048756" y="1874520"/>
            <a:ext cx="1463040" cy="228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확인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6" y="2148840"/>
            <a:ext cx="1371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[확인 문구]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1908" y="256032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25996" y="2560320"/>
            <a:ext cx="640080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확인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75404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토스트는 3초 후 자동 소멸. 확인창은 사용자 선택 필수. 문구는 메시지 ID로 관리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74152" y="155448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8074152" y="1554480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툴팁 · 태그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11312" y="1920240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33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  <a:ea typeface="Malgun Gothic"/>
              </a:rPr>
              <a:t>[툴팁 문구]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11312" y="2377440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신규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42832" y="2377440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완료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74352" y="2377440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오류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05872" y="2377440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8A9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대기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83879" y="303580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툴팁은 호버 0.3초 후 노출. 태그 색상: 신규(남색) · 완료(녹색) · 오류(적색) · 대기(회색)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로딩 · 진행 표시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" y="4114800"/>
            <a:ext cx="2011680" cy="14630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" y="4352544"/>
            <a:ext cx="1645920" cy="14630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" y="4590288"/>
            <a:ext cx="1280160" cy="14630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0" name="Oval 89"/>
          <p:cNvSpPr/>
          <p:nvPr/>
        </p:nvSpPr>
        <p:spPr>
          <a:xfrm>
            <a:off x="2971800" y="4114800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594360" y="4892040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[진행 문구]   ■ 중지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2초 이상 대기 시 스켈레톤 또는 스피너. AI 응답은 단계 문구와 중지 버튼 제공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65676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265676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레이어 팝업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2836" y="4114800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4402836" y="4114800"/>
            <a:ext cx="3108960" cy="228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레이어 팝업 제목                       ✕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94276" y="4407408"/>
            <a:ext cx="2926080" cy="3657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[본문 · 입력 영역]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57316" y="4828032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1B2A4A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88836" y="4828032"/>
            <a:ext cx="640080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75404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딤 배경 위 중앙 정렬. ✕ · 취소로 닫기. 입력값 있으면 닫기 전 확인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74152" y="37490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8074152" y="3749039"/>
            <a:ext cx="3657600" cy="2743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빈 값 · 오류 안내</a:t>
            </a:r>
          </a:p>
        </p:txBody>
      </p:sp>
      <p:sp>
        <p:nvSpPr>
          <p:cNvPr id="103" name="Oval 102"/>
          <p:cNvSpPr/>
          <p:nvPr/>
        </p:nvSpPr>
        <p:spPr>
          <a:xfrm>
            <a:off x="9308592" y="4114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500" b="1">
                <a:solidFill>
                  <a:srgbClr val="8A93A5"/>
                </a:solidFill>
                <a:latin typeface="Malgun Gothic"/>
                <a:ea typeface="Malgun Gothic"/>
              </a:rPr>
              <a:t>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11312" y="4754880"/>
            <a:ext cx="31089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[조회 결과가 없습니다.]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262872" y="5029200"/>
            <a:ext cx="10058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1B2A4A"/>
                </a:solidFill>
                <a:latin typeface="Malgun Gothic"/>
                <a:ea typeface="Malgun Gothic"/>
              </a:rPr>
              <a:t>[조건 변경]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83879" y="5230368"/>
            <a:ext cx="3438144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아이콘 + 문구 + 다음 행동 버튼 구성. 문구는 상태 정의(Ⅱ-5) 참조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Ⅱ-5.  화면 상태 및 표기 형식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표기 형식과 5가지 화면 상태를 공통으로 정의하여 모든 화면에 일관되게 적용합니다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화면 상태 (모든 화면 공통)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1920240"/>
            <a:ext cx="2103120" cy="1737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1920240"/>
            <a:ext cx="2103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① 기본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2286000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[항목 1]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2743200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[항목 2]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200400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[항목 3]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34056" y="1920240"/>
            <a:ext cx="2103120" cy="1737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734056" y="1920240"/>
            <a:ext cx="2103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② 로딩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71216" y="2331720"/>
            <a:ext cx="1828800" cy="219456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2871216" y="2679191"/>
            <a:ext cx="1554480" cy="219456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2871216" y="3026663"/>
            <a:ext cx="1280160" cy="219456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2871216" y="3337560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[불러오는 중입니다.]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1920240"/>
            <a:ext cx="2103120" cy="1737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5010912" y="1920240"/>
            <a:ext cx="2103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③ 빈 값</a:t>
            </a:r>
          </a:p>
        </p:txBody>
      </p:sp>
      <p:sp>
        <p:nvSpPr>
          <p:cNvPr id="72" name="Oval 71"/>
          <p:cNvSpPr/>
          <p:nvPr/>
        </p:nvSpPr>
        <p:spPr>
          <a:xfrm>
            <a:off x="5833872" y="228600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400" b="1">
                <a:solidFill>
                  <a:srgbClr val="8A93A5"/>
                </a:solidFill>
                <a:latin typeface="Malgun Gothic"/>
                <a:ea typeface="Malgun Gothic"/>
              </a:rPr>
              <a:t>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2352" y="283464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[조회 결과가 없습니다.]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05272" y="320040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1B2A4A"/>
                </a:solidFill>
                <a:latin typeface="Malgun Gothic"/>
                <a:ea typeface="Malgun Gothic"/>
              </a:rPr>
              <a:t>[조건 변경]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87768" y="1920240"/>
            <a:ext cx="2103120" cy="1737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7287768" y="1920240"/>
            <a:ext cx="2103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④ 오류</a:t>
            </a:r>
          </a:p>
        </p:txBody>
      </p:sp>
      <p:sp>
        <p:nvSpPr>
          <p:cNvPr id="77" name="Oval 76"/>
          <p:cNvSpPr/>
          <p:nvPr/>
        </p:nvSpPr>
        <p:spPr>
          <a:xfrm>
            <a:off x="8110728" y="228600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400" b="1">
                <a:solidFill>
                  <a:srgbClr val="B3261E"/>
                </a:solidFill>
                <a:latin typeface="Malgun Gothic"/>
                <a:ea typeface="Malgun Gothic"/>
              </a:rPr>
              <a:t>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79208" y="283464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[오류가 발생했습니다.]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2128" y="320040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1B2A4A"/>
                </a:solidFill>
                <a:latin typeface="Malgun Gothic"/>
                <a:ea typeface="Malgun Gothic"/>
              </a:rPr>
              <a:t>[다시 시도]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64624" y="1920240"/>
            <a:ext cx="2103120" cy="1737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9564624" y="1920240"/>
            <a:ext cx="2103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⑤ 권한 없음</a:t>
            </a:r>
          </a:p>
        </p:txBody>
      </p:sp>
      <p:sp>
        <p:nvSpPr>
          <p:cNvPr id="82" name="Oval 81"/>
          <p:cNvSpPr/>
          <p:nvPr/>
        </p:nvSpPr>
        <p:spPr>
          <a:xfrm>
            <a:off x="10387584" y="228600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400" b="1">
                <a:solidFill>
                  <a:srgbClr val="8A93A5"/>
                </a:solidFill>
                <a:latin typeface="Malgun Gothic"/>
                <a:ea typeface="Malgun Gothic"/>
              </a:rPr>
              <a:t>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56064" y="283464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[열람 권한이 없습니다.]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58984" y="320040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1B2A4A"/>
                </a:solidFill>
                <a:latin typeface="Malgun Gothic"/>
                <a:ea typeface="Malgun Gothic"/>
              </a:rPr>
              <a:t>[권한 신청]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794760"/>
            <a:ext cx="48463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표기 형식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" y="4123944"/>
            <a:ext cx="539496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457200" y="4251960"/>
          <a:ext cx="5394960" cy="16276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73736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YYYY-MM-DD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2026-10-12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HH:MM:SS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09:30:00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백분율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소수 2자리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87.50%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건수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천 단위 콤마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1,284,000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전화번호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010-1234-****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" name="Rectangle 87"/>
          <p:cNvSpPr/>
          <p:nvPr/>
        </p:nvSpPr>
        <p:spPr>
          <a:xfrm>
            <a:off x="6126480" y="3794760"/>
            <a:ext cx="50566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상태별 노출 기준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126480" y="4123944"/>
            <a:ext cx="560527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6126480" y="4251960"/>
          <a:ext cx="5605272" cy="16276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286000"/>
                <a:gridCol w="240487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노출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안내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[조회 · AI 응답 대기]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[불러오는 중입니다.]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빈 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[조회 결과 0건]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[조회 결과가 없습니다.]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[API 실패 · 타임아웃]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[일시적인 오류가 발생했습니다.]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없음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[열람 권한 미보유]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[열람 권한이 없습니다.]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정상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Ⅱ-6.  디자인 가이드 (컬러 · 타이포 · 간격)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화면설계 단계에서 합의하는 최소 디자인 기준이며, 상세 UI는 디자인 시스템을 따릅니다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1783080" cy="731520"/>
          </a:xfrm>
          <a:prstGeom prst="rect">
            <a:avLst/>
          </a:prstGeom>
          <a:solidFill>
            <a:srgbClr val="1B2A4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Primary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#1B2A4A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주요 버튼 · 헤더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008" y="1554480"/>
            <a:ext cx="1783080" cy="731520"/>
          </a:xfrm>
          <a:prstGeom prst="rect">
            <a:avLst/>
          </a:prstGeom>
          <a:solidFill>
            <a:srgbClr val="2E4472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Secondary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50008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#2E4472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보조 강조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2816" y="1554480"/>
            <a:ext cx="1783080" cy="7315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5A6577"/>
                </a:solidFill>
                <a:latin typeface="Malgun Gothic"/>
                <a:ea typeface="Malgun Gothic"/>
              </a:rPr>
              <a:t>Surface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42816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#F3F5F9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카드 · 배경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35623" y="1554480"/>
            <a:ext cx="1783080" cy="731520"/>
          </a:xfrm>
          <a:prstGeom prst="rect">
            <a:avLst/>
          </a:prstGeom>
          <a:solidFill>
            <a:srgbClr val="DDE2E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5A6577"/>
                </a:solidFill>
                <a:latin typeface="Malgun Gothic"/>
                <a:ea typeface="Malgun Gothic"/>
              </a:rPr>
              <a:t>Line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35623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#DDE2EA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구분선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28431" y="1554480"/>
            <a:ext cx="1783080" cy="731520"/>
          </a:xfrm>
          <a:prstGeom prst="rect">
            <a:avLst/>
          </a:prstGeom>
          <a:solidFill>
            <a:srgbClr val="1A2233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Text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28431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#1A2233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본문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21240" y="1554480"/>
            <a:ext cx="1783080" cy="731520"/>
          </a:xfrm>
          <a:prstGeom prst="rect">
            <a:avLst/>
          </a:prstGeom>
          <a:solidFill>
            <a:srgbClr val="B3261E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Error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21240" y="2304288"/>
            <a:ext cx="1783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#B3261E</a:t>
            </a:r>
          </a:p>
          <a:p>
            <a:pPr algn="ctr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오류 · 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834640"/>
            <a:ext cx="49377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타이포그래피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7200" y="3163824"/>
            <a:ext cx="54864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457200" y="3291840"/>
          <a:ext cx="5486400" cy="210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1371600"/>
                <a:gridCol w="822960"/>
                <a:gridCol w="18288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크기 / 굵기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행간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H1 페이지 제목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24px / Bold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타이틀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H2 섹션 제목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18px / Bold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카드 · 섹션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Body 본문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14px / Regular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텍스트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Caption 보조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12px / Regular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안내 · 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Rectangle 70"/>
          <p:cNvSpPr/>
          <p:nvPr/>
        </p:nvSpPr>
        <p:spPr>
          <a:xfrm>
            <a:off x="6217920" y="2834640"/>
            <a:ext cx="496519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레이아웃 기준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217920" y="3163824"/>
            <a:ext cx="551383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217920" y="3291840"/>
          <a:ext cx="5513832" cy="210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1463040"/>
                <a:gridCol w="25877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간격 (Spacing)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 · 8 · 16 · 24px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8px 배수 그리드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모서리 (Radius)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 · 8px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버튼 4px · 카드 8px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기준 해상도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1920 × 1080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최소 1366px 대응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폰트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Malgun Gothic / [Pretendard]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한 · 영 · 중 대응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Ⅱ-7.  ID 체계 및 문서 연계 규칙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제안서 · 화면설계서 · 테스트가 같은 ID로 연결되도록 접두사와 형식을 통일합니다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ID는 한 번 부여하면 재사용하지 않으며, 폐기 시 '삭제' 상태로 이력을 유지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2286000"/>
                <a:gridCol w="1645920"/>
                <a:gridCol w="2743200"/>
                <a:gridCol w="27706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접두사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시스템코드-기능코드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AAA-000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화면설계서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팝업 · 상태 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 + -P / -S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AAA-000-P0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CHT-002-P1, CHT-002-S3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화면설계서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제안서 · 화면설계서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제안서 · RTM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메시지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메시지 정의서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 · 배치 · 알림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 / BT / 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IF-001, BT-001, NT-001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정의서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기능 · 지표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/ KPI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AI-001, KPI-001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정의서 · 제안서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테스트 · 이슈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 / ISS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XX-000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TC-001, ISS-001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 · 이슈표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화면 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17개 화면의 와이어프레임 · 설명 · 정책 · 논의 사항을 정의합니다.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인증 · 챗봇 · 검색 · 저널</a:t>
            </a:r>
          </a:p>
          <a:p>
            <a:r>
              <a:t>대시보드 · 마이페이지 · 알림 · 공지</a:t>
            </a:r>
          </a:p>
          <a:p>
            <a:r>
              <a:t>관리자 · 표준 폼 · 오류 · 모바일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Ⅲ-2.  AI 챗봇 메인 (CHT-001)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웰컴 메시지와 질의 입력창으로 대화를 시작하는 챗봇 첫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AI 한계 고지 상시 노출 · 질의 로그 N일 보관   |   논의 필요: 웰컴 문구 개인화 범위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CHT-001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챗봇 &gt; 메인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1828800"/>
            <a:ext cx="1325880" cy="4206240"/>
          </a:xfrm>
          <a:prstGeom prst="rect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1901952"/>
            <a:ext cx="1188720" cy="23774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＋ 새 대화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2212848"/>
            <a:ext cx="118872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최근 대화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2395728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 문의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" y="2633472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재택근무 신청 방법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" y="2871215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출장비 정산 기준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" y="3108960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신규 입사자 교육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13632" y="1920240"/>
            <a:ext cx="73152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사내검색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90872" y="1920240"/>
            <a:ext cx="73152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웹검색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59152" y="2999232"/>
            <a:ext cx="4754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568" b="1">
                <a:solidFill>
                  <a:srgbClr val="1B2A4A"/>
                </a:solidFill>
                <a:latin typeface="Malgun Gothic"/>
                <a:ea typeface="Malgun Gothic"/>
              </a:rPr>
              <a:t>홍길동님, 반갑습니다!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59152" y="3502152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2450591" y="3547872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84" b="0">
                <a:solidFill>
                  <a:srgbClr val="8A93A5"/>
                </a:solidFill>
                <a:latin typeface="Malgun Gothic"/>
                <a:ea typeface="Malgun Gothic"/>
              </a:rPr>
              <a:t>무엇이든 물어보세요</a:t>
            </a:r>
          </a:p>
        </p:txBody>
      </p:sp>
      <p:sp>
        <p:nvSpPr>
          <p:cNvPr id="76" name="Oval 75"/>
          <p:cNvSpPr/>
          <p:nvPr/>
        </p:nvSpPr>
        <p:spPr>
          <a:xfrm>
            <a:off x="2450591" y="4114800"/>
            <a:ext cx="256032" cy="219456"/>
          </a:xfrm>
          <a:prstGeom prst="ellipse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96" b="0">
                <a:solidFill>
                  <a:srgbClr val="5A6577"/>
                </a:solidFill>
                <a:latin typeface="Malgun Gothic"/>
                <a:ea typeface="Malgun Gothic"/>
              </a:rPr>
              <a:t>＋</a:t>
            </a:r>
          </a:p>
        </p:txBody>
      </p:sp>
      <p:sp>
        <p:nvSpPr>
          <p:cNvPr id="77" name="Oval 76"/>
          <p:cNvSpPr/>
          <p:nvPr/>
        </p:nvSpPr>
        <p:spPr>
          <a:xfrm>
            <a:off x="2770632" y="4114800"/>
            <a:ext cx="256032" cy="219456"/>
          </a:xfrm>
          <a:prstGeom prst="ellipse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첨</a:t>
            </a:r>
          </a:p>
        </p:txBody>
      </p:sp>
      <p:sp>
        <p:nvSpPr>
          <p:cNvPr id="78" name="Oval 77"/>
          <p:cNvSpPr/>
          <p:nvPr/>
        </p:nvSpPr>
        <p:spPr>
          <a:xfrm>
            <a:off x="6702552" y="4114800"/>
            <a:ext cx="274320" cy="21945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FFFFFF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59152" y="5742432"/>
            <a:ext cx="47548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AI 응답은 부정확할 수 있습니다. 중요한 내용은 원문을 확인하세요.</a:t>
            </a:r>
          </a:p>
        </p:txBody>
      </p:sp>
      <p:sp>
        <p:nvSpPr>
          <p:cNvPr id="80" name="Oval 79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1" name="Oval 80"/>
          <p:cNvSpPr/>
          <p:nvPr/>
        </p:nvSpPr>
        <p:spPr>
          <a:xfrm>
            <a:off x="484632" y="2414015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2" name="Oval 81"/>
          <p:cNvSpPr/>
          <p:nvPr/>
        </p:nvSpPr>
        <p:spPr>
          <a:xfrm>
            <a:off x="3776472" y="188366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3" name="Oval 82"/>
          <p:cNvSpPr/>
          <p:nvPr/>
        </p:nvSpPr>
        <p:spPr>
          <a:xfrm>
            <a:off x="2221991" y="310896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84" name="Oval 83"/>
          <p:cNvSpPr/>
          <p:nvPr/>
        </p:nvSpPr>
        <p:spPr>
          <a:xfrm>
            <a:off x="2267712" y="36393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85" name="Oval 84"/>
          <p:cNvSpPr/>
          <p:nvPr/>
        </p:nvSpPr>
        <p:spPr>
          <a:xfrm>
            <a:off x="2267712" y="4096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86" name="Oval 85"/>
          <p:cNvSpPr/>
          <p:nvPr/>
        </p:nvSpPr>
        <p:spPr>
          <a:xfrm>
            <a:off x="6839712" y="4096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7498079" y="1463040"/>
          <a:ext cx="4233672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새 대화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클릭 시 빈 세션 시작. 작성 중인 입력이 있으면 확인창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대화 목록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최근순 20개, 초과 시 [더보기]. 제목 검색 · 일부/일괄 삭제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모드 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사내검색(기본) / 웹검색. 대화 진행 중 전환 시 새 대화로 시작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웰컴 메시지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"[이름]님, 반갑습니다!" 이름이 길면 말줄임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입력창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최대 N자. Enter 전송, Shift+Enter 줄바꿈. 6줄 확장 후 스크롤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＋ 기능 / 첨부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기능 팝오버. 첨부 최대 3개 · 파일당 20MB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전송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입력이 없으면 비활성. 클릭 시 대화(CHT-002)로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Ⅲ-1.  로그인 (AUTH-001)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사번 · 비밀번호 또는 사내 SSO로 인증하며, 오류 시 계정 존재 여부를 노출하지 않습니다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비밀번호 90일 변경 · 세션 N분 · 로그인 이력 로그   |   논의 필요: SSO 전용 전환 시점 · 2차 인증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AUTH-001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로그인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0992" y="1920240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한국어  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59152" y="2130552"/>
            <a:ext cx="3017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364991" y="2267712"/>
            <a:ext cx="1005840" cy="365760"/>
          </a:xfrm>
          <a:prstGeom prst="rect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[로고]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42032" y="2724912"/>
            <a:ext cx="265176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8" b="1">
                <a:solidFill>
                  <a:srgbClr val="1B2A4A"/>
                </a:solidFill>
                <a:latin typeface="Malgun Gothic"/>
                <a:ea typeface="Malgun Gothic"/>
              </a:rPr>
              <a:t>AI Platform 로그인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42032" y="3090672"/>
            <a:ext cx="2651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사번 또는 이메일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42032" y="3456432"/>
            <a:ext cx="2651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비밀번호                                          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42032" y="3758184"/>
            <a:ext cx="265176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B3261E"/>
                </a:solidFill>
                <a:latin typeface="Malgun Gothic"/>
                <a:ea typeface="Malgun Gothic"/>
              </a:rPr>
              <a:t>아이디 또는 비밀번호가 일치하지 않습니다.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42032" y="4005072"/>
            <a:ext cx="128016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 아이디 저장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42032" y="4279392"/>
            <a:ext cx="265176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  <a:ea typeface="Malgun Gothic"/>
              </a:rPr>
              <a:t>로그인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542032" y="4645152"/>
            <a:ext cx="265176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0">
                <a:solidFill>
                  <a:srgbClr val="1B2A4A"/>
                </a:solidFill>
                <a:latin typeface="Malgun Gothic"/>
                <a:ea typeface="Malgun Gothic"/>
              </a:rPr>
              <a:t>SSO 로그인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42032" y="5102352"/>
            <a:ext cx="2651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비밀번호 찾기  |  문의: [담당자 · 연락처]</a:t>
            </a:r>
          </a:p>
          <a:p>
            <a:pPr algn="ctr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© [회사명]</a:t>
            </a:r>
          </a:p>
        </p:txBody>
      </p:sp>
      <p:sp>
        <p:nvSpPr>
          <p:cNvPr id="75" name="Oval 74"/>
          <p:cNvSpPr/>
          <p:nvPr/>
        </p:nvSpPr>
        <p:spPr>
          <a:xfrm>
            <a:off x="5513832" y="188366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76" name="Oval 75"/>
          <p:cNvSpPr/>
          <p:nvPr/>
        </p:nvSpPr>
        <p:spPr>
          <a:xfrm>
            <a:off x="2404872" y="310896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77" name="Oval 76"/>
          <p:cNvSpPr/>
          <p:nvPr/>
        </p:nvSpPr>
        <p:spPr>
          <a:xfrm>
            <a:off x="2404872" y="34747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8" name="Oval 77"/>
          <p:cNvSpPr/>
          <p:nvPr/>
        </p:nvSpPr>
        <p:spPr>
          <a:xfrm>
            <a:off x="2404872" y="42976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79" name="Oval 78"/>
          <p:cNvSpPr/>
          <p:nvPr/>
        </p:nvSpPr>
        <p:spPr>
          <a:xfrm>
            <a:off x="2404872" y="46634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80" name="Oval 79"/>
          <p:cNvSpPr/>
          <p:nvPr/>
        </p:nvSpPr>
        <p:spPr>
          <a:xfrm>
            <a:off x="2404872" y="3767328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7498079" y="1463040"/>
          <a:ext cx="4233672" cy="30540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언어 선택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한국어 / English / 中文. 직전 선택 &gt; 계정 언어 &gt; 브라우저 언어 순으로 적용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사번 · 이메일 입력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최대 50자, 공백 제거. Enter 시 비밀번호로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비밀번호 입력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기본 마스킹, [표시] 토글. Caps Lock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[로그인]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두 항목 입력 시 활성. 성공 시 직전 화면(없으면 메인). 5회 연속 실패 시 계정 잠금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[SSO 로그인]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사내 SSO 인증 후 메인 복귀. 실패 시 본 화면에 오류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오류 문구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"아이디 또는 비밀번호가 일치하지 않습니다." (계정 존재 여부 비노출)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Ⅲ-3.  AI 챗봇 응답 + 출처 패널 (CHT-002)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처리 단계와 근거 출처를 함께 보여주어 답변의 신뢰성을 확보합니다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권한 없는 문서는 제목 · 건수까지 비노출 · 질의/응답 로그 저장   |   논의 필요: 출처 최대 노출 건수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CHT-002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챗봇 &gt; 대화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1828800"/>
            <a:ext cx="1325880" cy="4206240"/>
          </a:xfrm>
          <a:prstGeom prst="rect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1901952"/>
            <a:ext cx="1188720" cy="23774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＋ 새 대화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2212848"/>
            <a:ext cx="118872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최근 대화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2395728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 문의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" y="2633472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재택근무 신청 방법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" y="2871215"/>
            <a:ext cx="11887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출장비 정산 기준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47872" y="1920240"/>
            <a:ext cx="1828800" cy="256032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기한이 언제까지인가요?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83664" y="2286000"/>
            <a:ext cx="310896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① 문서 검색 ✓   ② 권한 확인 ✓   ③ 답변 생성 ✓      자세히 ▶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83664" y="2587752"/>
            <a:ext cx="3108960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연차는 입사일 기준으로 발생하며 당해 연도 말일까지 사용해야 합니다 [1].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• 미사용 연차는 익년 1월 중 수당으로 정산됩니다 [2].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• 이월 사용은 [부서장 승인] 시 가능합니다 [3].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883664" y="4233672"/>
            <a:ext cx="502920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좋아요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32304" y="4233672"/>
            <a:ext cx="502920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싫어요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80944" y="4233672"/>
            <a:ext cx="502920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복사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529584" y="4233672"/>
            <a:ext cx="502920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재생성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078224" y="4233672"/>
            <a:ext cx="502920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출처 3 ＋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83664" y="5468112"/>
            <a:ext cx="310896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[이어서 질문해보세요]                       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02352" y="1920240"/>
            <a:ext cx="21488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5148072" y="195681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3개의 출처를 찾았습니다.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75504" y="2267712"/>
            <a:ext cx="2011680" cy="100584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212080" y="2304288"/>
            <a:ext cx="548640" cy="14630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  <a:ea typeface="Malgun Gothic"/>
              </a:rPr>
              <a:t>사내규정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0" y="2487168"/>
            <a:ext cx="1920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[1] 연차휴가 운영 지침</a:t>
            </a:r>
          </a:p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212080" y="2907792"/>
            <a:ext cx="68580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1B2A4A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75504" y="3364992"/>
            <a:ext cx="2011680" cy="100584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12080" y="3401568"/>
            <a:ext cx="548640" cy="14630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  <a:ea typeface="Malgun Gothic"/>
              </a:rPr>
              <a:t>사내규정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12080" y="3584448"/>
            <a:ext cx="1920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[2] 연차휴가 운영 지침</a:t>
            </a:r>
          </a:p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12080" y="4005072"/>
            <a:ext cx="68580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1B2A4A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75504" y="4462272"/>
            <a:ext cx="2011680" cy="100584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212080" y="4498848"/>
            <a:ext cx="548640" cy="14630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  <a:ea typeface="Malgun Gothic"/>
              </a:rPr>
              <a:t>사내규정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12080" y="4681728"/>
            <a:ext cx="1920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[3] 연차휴가 운영 지침</a:t>
            </a:r>
          </a:p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212080" y="5102352"/>
            <a:ext cx="68580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1B2A4A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93" name="Oval 92"/>
          <p:cNvSpPr/>
          <p:nvPr/>
        </p:nvSpPr>
        <p:spPr>
          <a:xfrm>
            <a:off x="341071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4" name="Oval 93"/>
          <p:cNvSpPr/>
          <p:nvPr/>
        </p:nvSpPr>
        <p:spPr>
          <a:xfrm>
            <a:off x="1737360" y="2304288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5" name="Oval 94"/>
          <p:cNvSpPr/>
          <p:nvPr/>
        </p:nvSpPr>
        <p:spPr>
          <a:xfrm>
            <a:off x="1737360" y="26334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6" name="Oval 95"/>
          <p:cNvSpPr/>
          <p:nvPr/>
        </p:nvSpPr>
        <p:spPr>
          <a:xfrm>
            <a:off x="1737360" y="42336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7" name="Oval 96"/>
          <p:cNvSpPr/>
          <p:nvPr/>
        </p:nvSpPr>
        <p:spPr>
          <a:xfrm>
            <a:off x="5010912" y="1956816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8" name="Oval 97"/>
          <p:cNvSpPr/>
          <p:nvPr/>
        </p:nvSpPr>
        <p:spPr>
          <a:xfrm>
            <a:off x="1737360" y="55138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7498079" y="1463040"/>
          <a:ext cx="423367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사용자 질의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우측 정렬 말풍선. 길면 접기 / 펼치기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처리 단계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생성 중 단계별 진행 표시, 완료 시 한 줄 요약으로 접힘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답변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스트리밍 출력, Markdown 지원. 근거 문장에 인용 번호 [n], 클릭 시 출처 강조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액션 버튼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좋아요 / 싫어요(사유 선택) / 복사 / 재생성. 응답 완료 후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출처 패널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유사도 순. 문서 유형 · 부서 · 일자. [원문 열람]은 권한 보유 건만 활성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입력창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응답 중에는 [중지(■)]로 전환, 부분 응답 유지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Ⅲ-7.  경영진 대시보드 (DSH-001)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핵심 지표를 KPI 카드 · 추이 · 순위 · 최근 목록으로 한 화면에서 모니터링합니다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경영진 · 관리자만 접근 · 개인 식별 정보 마스킹 · 산식은 지표 정의서 준수   |   논의 필요: 법인별 비교 위젯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DSH-001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대시보드 &gt; 종합현황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경영진 · 관리자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901952"/>
            <a:ext cx="2560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AI 서비스 종합 현황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73552" y="1920240"/>
            <a:ext cx="2286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기간  2026-09-08 ~ 2026-10-07  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05272" y="1920240"/>
            <a:ext cx="5029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조회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1920240"/>
            <a:ext cx="105156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갱신 10-08 01:00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2249424"/>
            <a:ext cx="160020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2267712"/>
            <a:ext cx="16002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활성 사용자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2432304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1456" b="1">
                <a:solidFill>
                  <a:srgbClr val="1B2A4A"/>
                </a:solidFill>
                <a:latin typeface="Malgun Gothic"/>
                <a:ea typeface="Malgun Gothic"/>
              </a:rPr>
              <a:t>1,284명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2706624"/>
            <a:ext cx="1600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전기 대비  ▲ 5.2%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40280" y="2249424"/>
            <a:ext cx="160020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40280" y="2267712"/>
            <a:ext cx="16002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일평균 질의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40280" y="2432304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1456" b="1">
                <a:solidFill>
                  <a:srgbClr val="1B2A4A"/>
                </a:solidFill>
                <a:latin typeface="Malgun Gothic"/>
                <a:ea typeface="Malgun Gothic"/>
              </a:rPr>
              <a:t>3,420건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0280" y="2706624"/>
            <a:ext cx="1600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전기 대비  ▲ 8.1%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2249424"/>
            <a:ext cx="160020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931920" y="2267712"/>
            <a:ext cx="16002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응답 만족도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31920" y="2432304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1456" b="1">
                <a:solidFill>
                  <a:srgbClr val="1B2A4A"/>
                </a:solidFill>
                <a:latin typeface="Malgun Gothic"/>
                <a:ea typeface="Malgun Gothic"/>
              </a:rPr>
              <a:t>87.5%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2706624"/>
            <a:ext cx="1600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전기 대비  ▼ 0.8%p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23560" y="2249424"/>
            <a:ext cx="160020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623560" y="2267712"/>
            <a:ext cx="16002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미해결 이슈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23560" y="2432304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1456" b="1">
                <a:solidFill>
                  <a:srgbClr val="1B2A4A"/>
                </a:solidFill>
                <a:latin typeface="Malgun Gothic"/>
                <a:ea typeface="Malgun Gothic"/>
              </a:rPr>
              <a:t>12건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23560" y="2706624"/>
            <a:ext cx="1600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전기 대비  ▲ 2건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2999232"/>
            <a:ext cx="42062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" y="3017520"/>
            <a:ext cx="23774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일별 질의 추이   일 / 주 / 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8952" y="4096512"/>
            <a:ext cx="292608" cy="45720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1234440" y="3913632"/>
            <a:ext cx="292608" cy="64008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709928" y="4050792"/>
            <a:ext cx="292608" cy="50292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2185416" y="3730752"/>
            <a:ext cx="292608" cy="82296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2660904" y="3867912"/>
            <a:ext cx="292608" cy="68580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3136392" y="3639312"/>
            <a:ext cx="292608" cy="91440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3611880" y="3776472"/>
            <a:ext cx="292608" cy="77724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4087368" y="3502152"/>
            <a:ext cx="292608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873752" y="2999232"/>
            <a:ext cx="2350008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4919472" y="3017520"/>
            <a:ext cx="20116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많이 찾은 문서 TOP 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3255263"/>
            <a:ext cx="228600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12080" y="3255263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연차휴가 운영 지침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11112" y="3255263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412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37760" y="3529583"/>
            <a:ext cx="228600" cy="2011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212080" y="3529583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출장비 정산 기준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611112" y="3529583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358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7760" y="3803904"/>
            <a:ext cx="228600" cy="2011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12080" y="3803904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재택근무 운영 규정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11112" y="3803904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60" y="4078224"/>
            <a:ext cx="228600" cy="2011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12080" y="4078224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경조사 휴가 안내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11112" y="4078224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266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0" y="4352544"/>
            <a:ext cx="228600" cy="2011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12080" y="4352544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인사평가 가이드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11112" y="4352544"/>
            <a:ext cx="548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219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4736592"/>
            <a:ext cx="66751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" y="4754880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최근 피드백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4754880"/>
            <a:ext cx="6858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1B2A4A"/>
                </a:solidFill>
                <a:latin typeface="Malgun Gothic"/>
                <a:ea typeface="Malgun Gothic"/>
              </a:rPr>
              <a:t>더보기 ▶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1792" y="4965192"/>
            <a:ext cx="6537960" cy="18288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1">
                <a:solidFill>
                  <a:srgbClr val="5A6577"/>
                </a:solidFill>
                <a:latin typeface="Malgun Gothic"/>
                <a:ea typeface="Malgun Gothic"/>
              </a:rPr>
              <a:t>일시          사용자          평가          사유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" y="5148072"/>
            <a:ext cx="653796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10-07 18:21          홍○○          싫어요          답변이 부정확해요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1792" y="5330952"/>
            <a:ext cx="653796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10-07 16:02          김○○          좋아요          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792" y="5513832"/>
            <a:ext cx="653796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10-07 11:45          이○○          싫어요          출처가 부족해요</a:t>
            </a:r>
          </a:p>
        </p:txBody>
      </p:sp>
      <p:sp>
        <p:nvSpPr>
          <p:cNvPr id="118" name="Oval 117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19" name="Oval 118"/>
          <p:cNvSpPr/>
          <p:nvPr/>
        </p:nvSpPr>
        <p:spPr>
          <a:xfrm>
            <a:off x="5468112" y="188366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0" name="Oval 119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1" name="Oval 120"/>
          <p:cNvSpPr/>
          <p:nvPr/>
        </p:nvSpPr>
        <p:spPr>
          <a:xfrm>
            <a:off x="484632" y="30175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22" name="Oval 121"/>
          <p:cNvSpPr/>
          <p:nvPr/>
        </p:nvSpPr>
        <p:spPr>
          <a:xfrm>
            <a:off x="4809744" y="30175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23" name="Oval 122"/>
          <p:cNvSpPr/>
          <p:nvPr/>
        </p:nvSpPr>
        <p:spPr>
          <a:xfrm>
            <a:off x="484632" y="47548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7498079" y="1463040"/>
          <a:ext cx="4233672" cy="2798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타이틀 · 기간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기본 최근 30일, 최대 6개월. 변경 후 [조회] 시 모든 위젯 동시 갱신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조회 / 갱신 시각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집계는 매일 01:00 배치 기준, 갱신 시각 상시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KPI 카드 4종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현재값 + 전기 대비 증감(▲▼). 만족도 하락 시 적색. 클릭 시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일별 질의 추이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막대 차트, 최신일 강조. 일/주/월 전환, 호버 툴팁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TOP 5 순위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출처 인용 횟수 기준, 동률은 최근 인용일 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최근 피드백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최신 3건, 사용자명 마스킹. [더보기]로 전체 화면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Ⅲ-12.  사용자 · 권한 관리 (ADM-010)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관리자가 사용자를 조회하고 역할 · 메뉴 권한을 부여하며, 모든 변경은 이력으로 남깁니다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시스템 관리자만 접근 · 본인 관리자 권한 해제 불가 · 이름/사번 마스킹   |   논의 필요: 인사 DB 연동 사용자의 수동 등록 허용 여부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ADM-010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관리자 &gt; 계정 &gt; 사용자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시스템 관리자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901952"/>
            <a:ext cx="27432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사용자 관리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3095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조회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2531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초기화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231136"/>
            <a:ext cx="6675120" cy="3657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소속   전체  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6771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역할   전체  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1363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상태   전체  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955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검색   이름 · 사번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2706624"/>
            <a:ext cx="2743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2706624"/>
            <a:ext cx="82296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사번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0" y="2706624"/>
            <a:ext cx="91440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이름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0" y="2706624"/>
            <a:ext cx="137160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소속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2706624"/>
            <a:ext cx="100584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59" y="2706624"/>
            <a:ext cx="7315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상태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79" y="2706624"/>
            <a:ext cx="15544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최근 접속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2907791"/>
            <a:ext cx="27432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2907791"/>
            <a:ext cx="82296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100123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0" y="2907791"/>
            <a:ext cx="91440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홍○○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2907791"/>
            <a:ext cx="137160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기획팀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2907791"/>
            <a:ext cx="100584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일반 사용자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59" y="2907791"/>
            <a:ext cx="73152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활성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79" y="2907791"/>
            <a:ext cx="155448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2026-10-07 18:21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127248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" y="3127248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100245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김○○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0" y="3127248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IT운영팀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0" y="3127248"/>
            <a:ext cx="10058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시스템 관리자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59" y="3127248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활성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79" y="312724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2026-10-07 16:02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3346704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" y="3346704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100377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0" y="3346704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이○○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60320" y="3346704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영업팀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31920" y="3346704"/>
            <a:ext cx="10058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팀 관리자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37759" y="3346704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B3261E"/>
                </a:solidFill>
                <a:latin typeface="Malgun Gothic"/>
                <a:ea typeface="Malgun Gothic"/>
              </a:rPr>
              <a:t>잠금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79" y="3346704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2026-09-30 11:45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3566160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3566160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100412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45920" y="3566160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박○○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60320" y="3566160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연구소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31920" y="3566160"/>
            <a:ext cx="10058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일반 사용자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59" y="3566160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활성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279" y="3566160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2026-10-06 09:10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3822191"/>
            <a:ext cx="6675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◀  1  2  3  ▶       20건씩 보기 ▾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4050792"/>
            <a:ext cx="6675120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권한 설정 — 홍○○ (100123)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4270248"/>
            <a:ext cx="6675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" y="4343400"/>
            <a:ext cx="914400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54480" y="4343400"/>
            <a:ext cx="18288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일반 사용자  ▾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" y="4690872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☑ 챗봇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16352" y="4690872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☑ 검색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10912" y="4690872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□ 대시보드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" y="4983480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□ 관리자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16352" y="4983480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☑ 리포트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10912" y="4983480"/>
            <a:ext cx="20116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□ 저널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28232" y="5193792"/>
            <a:ext cx="68580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119" name="Oval 118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0" name="Oval 119"/>
          <p:cNvSpPr/>
          <p:nvPr/>
        </p:nvSpPr>
        <p:spPr>
          <a:xfrm>
            <a:off x="519379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1" name="Oval 120"/>
          <p:cNvSpPr/>
          <p:nvPr/>
        </p:nvSpPr>
        <p:spPr>
          <a:xfrm>
            <a:off x="484632" y="27249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2" name="Oval 121"/>
          <p:cNvSpPr/>
          <p:nvPr/>
        </p:nvSpPr>
        <p:spPr>
          <a:xfrm>
            <a:off x="4663440" y="29260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23" name="Oval 122"/>
          <p:cNvSpPr/>
          <p:nvPr/>
        </p:nvSpPr>
        <p:spPr>
          <a:xfrm>
            <a:off x="484632" y="380390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24" name="Oval 123"/>
          <p:cNvSpPr/>
          <p:nvPr/>
        </p:nvSpPr>
        <p:spPr>
          <a:xfrm>
            <a:off x="484632" y="405079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25" name="Oval 124"/>
          <p:cNvSpPr/>
          <p:nvPr/>
        </p:nvSpPr>
        <p:spPr>
          <a:xfrm>
            <a:off x="6291072" y="52120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7498079" y="1463040"/>
          <a:ext cx="4233672" cy="33101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조회조건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소속 · 역할 · 상태 · 이름/사번 검색. 초기화 시 기본값 복원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조회 / 초기화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검색어 2자 미만 시 안내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사용자 목록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20건 기본, 컬럼 정렬. 행 클릭 시 하단 권한 설정에 로드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상태 태그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활성 / 잠금 / 퇴직. 잠금 해제는 시스템 관리자만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페이지네이션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10 / 20 / 50 / 100건 선택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권한 설정 패널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역할 선택 시 기본 메뉴 권한 자동 체크, 개별 예외 부여 가능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[저장]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변경자 · 일시 · 이전값을 관리자 로그에 기록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Ⅲ-15.  등록 · 수정 폼 표준 (XXX-004)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신규 등록과 수정을 한 화면에서 처리하며, 필수값 검증과 저장 · 취소 동작을 정의합니다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저장 · 수정 · 삭제 권한과 데이터 보안 등급 명시   |   논의 필요: [협의 사항 입력]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XXX-004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[대메뉴] &gt; [화면명] &gt; 등록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[역할]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901952"/>
            <a:ext cx="27432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[화면명]  등록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7959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73952" y="1920240"/>
            <a:ext cx="7315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249424"/>
            <a:ext cx="6675120" cy="21945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기본 정보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2542032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[항목명]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35608" y="2542032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[입력]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86200" y="2542032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[항목명]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73168" y="2542032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[선택]  ▾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2871215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[항목명]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35608" y="2871215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[YYYY-MM-DD]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86200" y="2871215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[항목명]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○ [옵션1]  ○ [옵션2]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3200400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[항목명]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35608" y="3200400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[입력]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86200" y="3200400"/>
            <a:ext cx="86868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[항목명]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3200400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[입력]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3566160"/>
            <a:ext cx="6675120" cy="21945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상세 정보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840480"/>
            <a:ext cx="6675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[텍스트 영역]                                                                                  0 / 1,000자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4663440"/>
            <a:ext cx="868680" cy="36576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첨부 파일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35608" y="4663440"/>
            <a:ext cx="5788152" cy="365760"/>
          </a:xfrm>
          <a:prstGeom prst="rect">
            <a:avLst/>
          </a:prstGeom>
          <a:solidFill>
            <a:srgbClr val="FBFCFE"/>
          </a:solidFill>
          <a:ln w="9525">
            <a:solidFill>
              <a:srgbClr val="8A93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파일을 끌어놓거나 [찾아보기]  (최대 N개 · N MB)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5468112"/>
            <a:ext cx="41148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※ * 표시는 필수 입력 항목입니다.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879592" y="5541264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73952" y="5541264"/>
            <a:ext cx="7315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87" name="Oval 86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8" name="Oval 87"/>
          <p:cNvSpPr/>
          <p:nvPr/>
        </p:nvSpPr>
        <p:spPr>
          <a:xfrm>
            <a:off x="574243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9" name="Oval 88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0" name="Oval 89"/>
          <p:cNvSpPr/>
          <p:nvPr/>
        </p:nvSpPr>
        <p:spPr>
          <a:xfrm>
            <a:off x="484632" y="25420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1" name="Oval 90"/>
          <p:cNvSpPr/>
          <p:nvPr/>
        </p:nvSpPr>
        <p:spPr>
          <a:xfrm>
            <a:off x="484632" y="38404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2" name="Oval 91"/>
          <p:cNvSpPr/>
          <p:nvPr/>
        </p:nvSpPr>
        <p:spPr>
          <a:xfrm>
            <a:off x="484632" y="46634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93" name="Oval 92"/>
          <p:cNvSpPr/>
          <p:nvPr/>
        </p:nvSpPr>
        <p:spPr>
          <a:xfrm>
            <a:off x="5724144" y="5522976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7498079" y="1463040"/>
          <a:ext cx="4233672" cy="3182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타이틀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등록 / 수정 모드에 따라 "[화면명] 등록" · "수정"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취소 / 저장 (상단)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취소 시 입력값 있으면 확인창. 저장은 필수값 검증 후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섹션 · 필수 표시(*)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섹션별 그룹핑, 필수 항목은 라벨 앞 *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입력 영역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형식 · 기본값은 입력 항목 정의서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텍스트 영역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최대 글자 수와 현재 글자 수(0 / N)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첨부 파일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허용 형식 · 최대 개수 · 용량 제한 명시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취소 / 저장 (하단)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상단과 동일. 저장 성공 시 토스트 후 상세 · 목록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Ⅲ-17.  모바일 챗봇 (MOB-001~003)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세로 모드 모바일 웹(360px 이상) 기준으로 PC와 동일 기능을 터치에 맞게 재구성합니다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세로 모드 전용 · 터치 영역 최소 44px · 파일 첨부 [지원 / 미지원]   |   논의 필요: 앱(Native) 전환 · 푸시 알림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MOB-001~003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모바일 &gt; 챗봇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" y="1920240"/>
            <a:ext cx="1828800" cy="3611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07592" y="1956816"/>
            <a:ext cx="548640" cy="54864"/>
          </a:xfrm>
          <a:prstGeom prst="roundRect">
            <a:avLst>
              <a:gd name="adj" fmla="val 12000"/>
            </a:avLst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" y="5577840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MOB-001 챗봇 메인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2066543"/>
            <a:ext cx="1737360" cy="25603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☰        AI Platform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2724912"/>
            <a:ext cx="1737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008" b="1">
                <a:solidFill>
                  <a:srgbClr val="1B2A4A"/>
                </a:solidFill>
                <a:latin typeface="Malgun Gothic"/>
                <a:ea typeface="Malgun Gothic"/>
              </a:rPr>
              <a:t>홍길동님, 반갑습니다!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" y="3136391"/>
            <a:ext cx="14630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0392" y="3410711"/>
            <a:ext cx="14630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재택근무 신청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0392" y="3685032"/>
            <a:ext cx="14630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출장비 정산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8952" y="505663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무엇이든 물어보세요     ▶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62072" y="1920240"/>
            <a:ext cx="1828800" cy="3611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02152" y="1956816"/>
            <a:ext cx="548640" cy="54864"/>
          </a:xfrm>
          <a:prstGeom prst="roundRect">
            <a:avLst>
              <a:gd name="adj" fmla="val 12000"/>
            </a:avLst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2862072" y="5577840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MOB-002 대화 · 출처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07791" y="2066543"/>
            <a:ext cx="1737360" cy="25603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☰        대화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547872" y="2450591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기한은?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53512" y="2907791"/>
            <a:ext cx="164592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연차는 당해 연도 말일까지 사용해야 합니다 [1].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미사용 연차는 익년 1월 정산됩니다 [2].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953512" y="4050792"/>
            <a:ext cx="82296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B2A4A"/>
                </a:solidFill>
                <a:latin typeface="Malgun Gothic"/>
                <a:ea typeface="Malgun Gothic"/>
              </a:rPr>
              <a:t>출처 3  ▲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07791" y="4416552"/>
            <a:ext cx="1737360" cy="640080"/>
          </a:xfrm>
          <a:prstGeom prst="rect">
            <a:avLst/>
          </a:prstGeom>
          <a:solidFill>
            <a:srgbClr val="F3F5F9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[1] 연차휴가 운영 지침</a:t>
            </a:r>
          </a:p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  [원문 ↗]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953512" y="5102352"/>
            <a:ext cx="16459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이어서 질문     ▶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56632" y="1920240"/>
            <a:ext cx="1828800" cy="3611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696712" y="1956816"/>
            <a:ext cx="548640" cy="54864"/>
          </a:xfrm>
          <a:prstGeom prst="roundRect">
            <a:avLst>
              <a:gd name="adj" fmla="val 12000"/>
            </a:avLst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5056632" y="5577840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MOB-003 메뉴 드로어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02352" y="2066543"/>
            <a:ext cx="1737360" cy="25603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홍길동 · 기획팀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02352" y="2404872"/>
            <a:ext cx="1737360" cy="347472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＋ 새 대화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02352" y="2788920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대화 목록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02352" y="3172968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저널 · 리포트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02352" y="3557016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02352" y="3941064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설정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02352" y="4325112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로그아웃</a:t>
            </a:r>
          </a:p>
        </p:txBody>
      </p:sp>
      <p:sp>
        <p:nvSpPr>
          <p:cNvPr id="92" name="Oval 91"/>
          <p:cNvSpPr/>
          <p:nvPr/>
        </p:nvSpPr>
        <p:spPr>
          <a:xfrm>
            <a:off x="640080" y="2066543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3" name="Oval 92"/>
          <p:cNvSpPr/>
          <p:nvPr/>
        </p:nvSpPr>
        <p:spPr>
          <a:xfrm>
            <a:off x="667512" y="310896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4" name="Oval 93"/>
          <p:cNvSpPr/>
          <p:nvPr/>
        </p:nvSpPr>
        <p:spPr>
          <a:xfrm>
            <a:off x="640080" y="50566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5" name="Oval 94"/>
          <p:cNvSpPr/>
          <p:nvPr/>
        </p:nvSpPr>
        <p:spPr>
          <a:xfrm>
            <a:off x="2816352" y="2907791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6" name="Oval 95"/>
          <p:cNvSpPr/>
          <p:nvPr/>
        </p:nvSpPr>
        <p:spPr>
          <a:xfrm>
            <a:off x="2816352" y="405079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7" name="Oval 96"/>
          <p:cNvSpPr/>
          <p:nvPr/>
        </p:nvSpPr>
        <p:spPr>
          <a:xfrm>
            <a:off x="4965192" y="24048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7498079" y="1463040"/>
          <a:ext cx="4233672" cy="2798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메뉴 (☰)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클릭 시 좌측 드로어(MOB-003). 바깥 영역 · 뒤로가기로 닫힘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추천 질문 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많이 찾은 질문 3개. 탭 시 입력창에 채우고 즉시 전송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입력창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하단 고정, 키보드 상단으로 이동. 전송 후 초기화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답변 영역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PC와 동일 응답 형식. 표 · 코드는 가로 스크롤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출처 칩 → 바텀 시트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탭 시 하단 시트로 출처 노출 (PC의 출처 패널 대체)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드로어 메뉴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새 대화 · 목록 · 저널 · 알림 · 설정. 관리자 메뉴는 모바일 미노출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Ⅲ-4.  답변 피드백 (CHT-002-P1)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싫어요 선택 시 사유를 수집하는 레이어 팝업입니다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평가 · 사유는 질의 로그와 연결하여 보관, 개인정보 마스킹   |   논의 필요: 좋아요 시 의견 수집 여부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CHT-002-P1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챗봇 &gt; 대화 &gt; 싫어요 (레이어 팝업)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1828800"/>
            <a:ext cx="6858000" cy="420624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" y="1883664"/>
            <a:ext cx="2743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(배경) 대화 화면 — 딤 처리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10512" y="2084832"/>
            <a:ext cx="4114800" cy="3566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810512" y="2084832"/>
            <a:ext cx="4114800" cy="2743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96" b="1">
                <a:solidFill>
                  <a:srgbClr val="FFFFFF"/>
                </a:solidFill>
                <a:latin typeface="Malgun Gothic"/>
                <a:ea typeface="Malgun Gothic"/>
              </a:rPr>
              <a:t>답변이 도움이 되지 않았나요?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50992" y="2103120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96" b="1">
                <a:solidFill>
                  <a:srgbClr val="FFFFFF"/>
                </a:solidFill>
                <a:latin typeface="Malgun Gothic"/>
                <a:ea typeface="Malgun Gothic"/>
              </a:rPr>
              <a:t>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2450591"/>
            <a:ext cx="3840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이유를 알려주시면 답변 개선에 활용합니다. (선택)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2770632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● 답변이 부정확해요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3081528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○ 출처가 부족해요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392424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○ 최신 정보가 아니에요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3703320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○ 질문과 관련이 없어요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014216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○ 기타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370832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[기타 의견 입력]                                                    0 / 200자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5193792"/>
            <a:ext cx="3840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5A6577"/>
                </a:solidFill>
                <a:latin typeface="Malgun Gothic"/>
                <a:ea typeface="Malgun Gothic"/>
              </a:rPr>
              <a:t>※ 질문 · 답변 내용은 품질 개선 목적으로 저장됩니다.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70832" y="533095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102352" y="5330952"/>
            <a:ext cx="68580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제출</a:t>
            </a:r>
          </a:p>
        </p:txBody>
      </p:sp>
      <p:sp>
        <p:nvSpPr>
          <p:cNvPr id="79" name="Oval 78"/>
          <p:cNvSpPr/>
          <p:nvPr/>
        </p:nvSpPr>
        <p:spPr>
          <a:xfrm>
            <a:off x="1673352" y="21031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0" name="Oval 79"/>
          <p:cNvSpPr/>
          <p:nvPr/>
        </p:nvSpPr>
        <p:spPr>
          <a:xfrm>
            <a:off x="1810512" y="24688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1" name="Oval 80"/>
          <p:cNvSpPr/>
          <p:nvPr/>
        </p:nvSpPr>
        <p:spPr>
          <a:xfrm>
            <a:off x="1810512" y="27889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2" name="Oval 81"/>
          <p:cNvSpPr/>
          <p:nvPr/>
        </p:nvSpPr>
        <p:spPr>
          <a:xfrm>
            <a:off x="1810512" y="43891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83" name="Oval 82"/>
          <p:cNvSpPr/>
          <p:nvPr/>
        </p:nvSpPr>
        <p:spPr>
          <a:xfrm>
            <a:off x="4233672" y="5349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7498079" y="1463040"/>
          <a:ext cx="4233672" cy="2670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팝업 제목 · 닫기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싫어요 클릭 시 호출. ✕ · 취소 시 평가를 저장하지 않고 닫음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안내 문구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사유 입력은 선택 사항임을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사유 선택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공통코드 FB_REASON 기준 단일 선택. 사유 목록은 관리자에서 변경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기타 의견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'기타' 선택 시 활성. 최대 200자, 개인정보 입력 금지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[취소] / [제출]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제출 시 저장 후 토스트 "의견이 접수되었습니다."(MSG-010). 중복 제출 방지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Ⅲ-5.  통합검색 결과 (SRC-001)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키워드로 사내 문서 · 웹 · 저널을 통합 검색하고 필터로 좁히는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열람 권한 없는 문서는 제목 · 건수까지 비노출   |   논의 필요: 결과 0건 시 AI 질의로 연결 여부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SRC-001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검색 &gt; 결과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1901952"/>
            <a:ext cx="512064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연차휴가 이월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42432" y="1929384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55664" y="1929384"/>
            <a:ext cx="7772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상세검색 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2267712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전체 24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554480" y="2267712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사내문서 12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60320" y="2267712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웹 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66160" y="2267712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저널 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2587752"/>
            <a:ext cx="1463040" cy="338328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" y="2633472"/>
            <a:ext cx="1280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필터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2907791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기간  최근 1년 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" y="3410712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부서  전체 ▾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" y="3913632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☑ 규정   ☑ 서식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" y="4416552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 공지   □ 가이드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30552" y="2587752"/>
            <a:ext cx="3108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총 24건  ·  관련도순 ▾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30552" y="2816352"/>
            <a:ext cx="5074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176272" y="2862072"/>
            <a:ext cx="49377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연차휴가 운영 지침 (2025)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76272" y="3108959"/>
            <a:ext cx="4937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…미사용 연차의 이월은 부서장 승인 시 가능하며…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76272" y="3438144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인사팀 · 2025.03.15 · 규정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30552" y="3776472"/>
            <a:ext cx="5074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2176272" y="3822191"/>
            <a:ext cx="49377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휴가 관리 규정 제12조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6272" y="4069080"/>
            <a:ext cx="4937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…연차의 이월 및 소멸 시점은 다음과 같다…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76272" y="4398264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인사팀 · 2025.03.15 · 규정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30552" y="4736592"/>
            <a:ext cx="5074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176272" y="4782312"/>
            <a:ext cx="49377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연차 이월 신청서 서식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76272" y="5029200"/>
            <a:ext cx="4937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…이월 사유 · 승인자 서명란…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76272" y="5358384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00" b="0">
                <a:solidFill>
                  <a:srgbClr val="8A93A5"/>
                </a:solidFill>
                <a:latin typeface="Malgun Gothic"/>
                <a:ea typeface="Malgun Gothic"/>
              </a:rPr>
              <a:t>인사팀 · 2025.03.15 · 규정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30552" y="5742432"/>
            <a:ext cx="50749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◀  1  2  3  ▶</a:t>
            </a:r>
          </a:p>
        </p:txBody>
      </p:sp>
      <p:sp>
        <p:nvSpPr>
          <p:cNvPr id="91" name="Oval 90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484632" y="26334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2039112" y="28620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5010912" y="256032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6" name="Oval 95"/>
          <p:cNvSpPr/>
          <p:nvPr/>
        </p:nvSpPr>
        <p:spPr>
          <a:xfrm>
            <a:off x="3822191" y="572414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498079" y="1463040"/>
          <a:ext cx="423367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검색창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2자 이상 입력 후 Enter · [검색]. 용어 사전(동의어) 적용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검색 범위 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전체 / 사내문서 / 웹 / 저널. 탭 옆 숫자는 건수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필터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기간 · 부서 · 문서 유형. 변경 즉시 갱신, 선택 조건은 칩으로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결과 항목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제목 · 본문 일부(검색어 강조) · 메타. 권한 없는 문서는 결과 · 건수에서 제외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정렬 · 건수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관련도순(기본) / 최신순. 총 건수 표시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페이지네이션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10건씩. 필터 변경 시 1페이지로 초기화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Ⅲ-6.  추천 저널 (JNL-001)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관심 키워드 기반으로 수집된 논문 · 특허 · 기사를 AI 핵심요약과 함께 보여줍니다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수집 소스 · 라이선스 범위 준수 · 요약은 원문 대체 불가 고지   |   논의 필요: 요약 생성 비용 관리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JNL-001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저널 &gt; 추천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1920240"/>
            <a:ext cx="685800" cy="23774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  <a:ea typeface="Malgun Gothic"/>
              </a:rPr>
              <a:t>논문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80160" y="1920240"/>
            <a:ext cx="6858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0">
                <a:solidFill>
                  <a:srgbClr val="5A6577"/>
                </a:solidFill>
                <a:latin typeface="Malgun Gothic"/>
                <a:ea typeface="Malgun Gothic"/>
              </a:rPr>
              <a:t>특허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011680" y="1920240"/>
            <a:ext cx="6858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0">
                <a:solidFill>
                  <a:srgbClr val="5A6577"/>
                </a:solidFill>
                <a:latin typeface="Malgun Gothic"/>
                <a:ea typeface="Malgun Gothic"/>
              </a:rPr>
              <a:t>기사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96512" y="1920240"/>
            <a:ext cx="2011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기간  2026.10 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99632" y="1929384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키워드 설정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2267712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2322576"/>
            <a:ext cx="5486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Recycling of Blended Fabrics for a Circular Economy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" y="2596896"/>
            <a:ext cx="4572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저자 · [학술지] · 2026.10.02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" y="2953512"/>
            <a:ext cx="8686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AI 핵심요약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554480" y="295351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76272" y="295351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원문 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91072" y="2322576"/>
            <a:ext cx="82296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9A5B00"/>
                </a:solidFill>
                <a:latin typeface="Malgun Gothic"/>
                <a:ea typeface="Malgun Gothic"/>
              </a:rPr>
              <a:t>신규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3456432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" y="3511296"/>
            <a:ext cx="5486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Mechanical Properties of Elastane-Based Textiles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" y="3785615"/>
            <a:ext cx="4572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저자 · [학술지] · 2026.09.28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792" y="4142232"/>
            <a:ext cx="8686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AI 핵심요약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54480" y="414223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76272" y="414223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원문 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91072" y="3511296"/>
            <a:ext cx="82296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9A5B00"/>
                </a:solidFill>
                <a:latin typeface="Malgun Gothic"/>
                <a:ea typeface="Malgun Gothic"/>
              </a:rPr>
              <a:t>신규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4645152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" y="4700016"/>
            <a:ext cx="5486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A polyester/spandex composite for energy storage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" y="4974336"/>
            <a:ext cx="4572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저자 · [학술지] · 2026.09.21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" y="5330952"/>
            <a:ext cx="8686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AI 핵심요약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554480" y="533095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176272" y="533095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원문 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91072" y="4700016"/>
            <a:ext cx="82296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9A5B00"/>
                </a:solidFill>
                <a:latin typeface="Malgun Gothic"/>
                <a:ea typeface="Malgun Gothic"/>
              </a:rPr>
              <a:t>신규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5833872"/>
            <a:ext cx="6675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1B2A4A"/>
                </a:solidFill>
                <a:latin typeface="Malgun Gothic"/>
                <a:ea typeface="Malgun Gothic"/>
              </a:rPr>
              <a:t>더보기 ▾</a:t>
            </a:r>
          </a:p>
        </p:txBody>
      </p:sp>
      <p:sp>
        <p:nvSpPr>
          <p:cNvPr id="91" name="Oval 90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395935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530352" y="2953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6199632" y="2953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6" name="Oval 95"/>
          <p:cNvSpPr/>
          <p:nvPr/>
        </p:nvSpPr>
        <p:spPr>
          <a:xfrm>
            <a:off x="3639312" y="581558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498079" y="1463040"/>
          <a:ext cx="423367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유형 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논문 / 특허 / 기사. 선택 유형만 표시, 기본은 논문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기간 · 키워드 설정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월 단위 조회. 개인 관심 키워드 최대 10개 등록(MYP-001 연계)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저널 카드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제목 · 저자 · 출처 · 발행일. 제목 클릭 시 상세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[AI 핵심요약]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클릭 시 요약 3~5문장과 키워드를 펼침. 최초 요청 시 생성 후 캐시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[저장] · [원문]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저장은 내 서재에 추가(중복 방지). 원문은 새 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더보기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10건씩 추가 로드. 마지막이면 버튼 비노출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Ⅲ-8.  마이페이지 · 설정 (MYP-001)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개인 정보 확인과 알림 · 언어 · 기본 검색 모드를 설정하는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개인정보는 읽기 전용 · 설정 변경 이력 저장   |   논의 필요: 이용 내역 탭 노출 범위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MYP-001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마이페이지 &gt; 설정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920240"/>
            <a:ext cx="9144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프로필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08760" y="1920240"/>
            <a:ext cx="914400" cy="237744"/>
          </a:xfrm>
          <a:prstGeom prst="rect">
            <a:avLst/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알림 설정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1920240"/>
            <a:ext cx="9144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언어 · 화면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29000" y="1920240"/>
            <a:ext cx="9144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이용 내역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2267712"/>
            <a:ext cx="2011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9" name="Oval 68"/>
          <p:cNvSpPr/>
          <p:nvPr/>
        </p:nvSpPr>
        <p:spPr>
          <a:xfrm>
            <a:off x="1170432" y="2404872"/>
            <a:ext cx="777240" cy="777240"/>
          </a:xfrm>
          <a:prstGeom prst="ellipse">
            <a:avLst/>
          </a:prstGeom>
          <a:solidFill>
            <a:srgbClr val="F3F5F9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3273552"/>
            <a:ext cx="1874519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홍길동 (hong***)</a:t>
            </a:r>
          </a:p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[소속 · 직급]</a:t>
            </a:r>
          </a:p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hong@[도메인]</a:t>
            </a:r>
          </a:p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역할: 일반 사용자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79191" y="2267712"/>
            <a:ext cx="45262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770632" y="2340863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알림 수신 설정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70632" y="2615184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공유 알림 (메일)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73952" y="2633472"/>
            <a:ext cx="457200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  <a:ea typeface="Malgun Gothic"/>
              </a:rPr>
              <a:t>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70632" y="2926080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정기 리포트 (메일)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73952" y="2944368"/>
            <a:ext cx="457200" cy="182880"/>
          </a:xfrm>
          <a:prstGeom prst="roundRect">
            <a:avLst>
              <a:gd name="adj" fmla="val 12000"/>
            </a:avLst>
          </a:prstGeom>
          <a:solidFill>
            <a:srgbClr val="BF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70632" y="3236976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시스템 공지 (팝업)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73952" y="3255264"/>
            <a:ext cx="457200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  <a:ea typeface="Malgun Gothic"/>
              </a:rPr>
              <a:t>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70632" y="3657600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기본 언어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70632" y="3913632"/>
            <a:ext cx="18288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한국어  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70632" y="4279392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1B2A4A"/>
                </a:solidFill>
                <a:latin typeface="Malgun Gothic"/>
                <a:ea typeface="Malgun Gothic"/>
              </a:rPr>
              <a:t>기본 검색 모드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70632" y="4535424"/>
            <a:ext cx="32004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●  사내검색          ○  웹검색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28232" y="5010912"/>
            <a:ext cx="68580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84" name="Oval 83"/>
          <p:cNvSpPr/>
          <p:nvPr/>
        </p:nvSpPr>
        <p:spPr>
          <a:xfrm>
            <a:off x="48463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5" name="Oval 84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6" name="Oval 85"/>
          <p:cNvSpPr/>
          <p:nvPr/>
        </p:nvSpPr>
        <p:spPr>
          <a:xfrm>
            <a:off x="2615184" y="261518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7" name="Oval 86"/>
          <p:cNvSpPr/>
          <p:nvPr/>
        </p:nvSpPr>
        <p:spPr>
          <a:xfrm>
            <a:off x="2615184" y="389534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88" name="Oval 87"/>
          <p:cNvSpPr/>
          <p:nvPr/>
        </p:nvSpPr>
        <p:spPr>
          <a:xfrm>
            <a:off x="2615184" y="4517136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89" name="Oval 88"/>
          <p:cNvSpPr/>
          <p:nvPr/>
        </p:nvSpPr>
        <p:spPr>
          <a:xfrm>
            <a:off x="6291072" y="5029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7498079" y="1463040"/>
          <a:ext cx="4233672" cy="30540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탭 메뉴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프로필 / 알림 설정 / 언어 · 화면 / 이용 내역. 미저장 변경이 있으면 전환 시 확인창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프로필 카드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인사 DB 연동 정보를 읽기 전용으로 표시. 이메일 · 사번은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알림 수신 토글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항목별 ON/OFF를 [저장] 시 일괄 반영. 필수 공지는 해제 불가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기본 언어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한국어 / English / 中文. 다음 로그인부터 기본 적용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기본 검색 모드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챗봇 진입 시 기본 선택될 모드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[저장]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변경이 있을 때만 활성. 성공 시 토스트(MSG-002)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Ⅲ-9.  알림센터 (NTF-001)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공유 · 리포트 · 시스템 알림을 모아 확인하는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알림 보관 N일 후 자동 삭제 · GNB 벨 아이콘 배지 연동   |   논의 필요: 알림 유형 추가 시 설정 화면 연동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NTF-001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알림 &gt; 전체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192024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전체  24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63040" y="192024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읽지 않음  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39" y="192024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91839" y="192024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1920240"/>
            <a:ext cx="868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시스템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76672" y="1920240"/>
            <a:ext cx="8686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모두 읽음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91072" y="1920240"/>
            <a:ext cx="91440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선택 삭제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2286000"/>
            <a:ext cx="6675120" cy="502920"/>
          </a:xfrm>
          <a:prstGeom prst="rect">
            <a:avLst/>
          </a:prstGeom>
          <a:solidFill>
            <a:srgbClr val="F4F7FD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2" name="Oval 71"/>
          <p:cNvSpPr/>
          <p:nvPr/>
        </p:nvSpPr>
        <p:spPr>
          <a:xfrm>
            <a:off x="603504" y="2450592"/>
            <a:ext cx="164592" cy="164592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0392" y="2432304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99032" y="2377440"/>
            <a:ext cx="43891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5A6577"/>
                </a:solidFill>
                <a:latin typeface="Malgun Gothic"/>
                <a:ea typeface="Malgun Gothic"/>
              </a:rPr>
              <a:t>김○○님이 "3분기 시장 분석" 자료를 공유했습니다.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25312" y="2377440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10분 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2852928"/>
            <a:ext cx="6675120" cy="502920"/>
          </a:xfrm>
          <a:prstGeom prst="rect">
            <a:avLst/>
          </a:prstGeom>
          <a:solidFill>
            <a:srgbClr val="F4F7FD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7" name="Oval 76"/>
          <p:cNvSpPr/>
          <p:nvPr/>
        </p:nvSpPr>
        <p:spPr>
          <a:xfrm>
            <a:off x="603504" y="3017520"/>
            <a:ext cx="164592" cy="164592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2" y="2999232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99032" y="2944368"/>
            <a:ext cx="43891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5A6577"/>
                </a:solidFill>
                <a:latin typeface="Malgun Gothic"/>
                <a:ea typeface="Malgun Gothic"/>
              </a:rPr>
              <a:t>주간 리포트(2026.10.05)가 발행되었습니다.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25312" y="2944368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오늘 09:00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419856"/>
            <a:ext cx="6675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2" name="Oval 81"/>
          <p:cNvSpPr/>
          <p:nvPr/>
        </p:nvSpPr>
        <p:spPr>
          <a:xfrm>
            <a:off x="603504" y="3584448"/>
            <a:ext cx="164592" cy="16459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0392" y="3566160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시스템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99032" y="3511296"/>
            <a:ext cx="43891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10/15(목) 02:00~04:00 시스템 점검 안내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25312" y="351129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986784"/>
            <a:ext cx="6675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7" name="Oval 86"/>
          <p:cNvSpPr/>
          <p:nvPr/>
        </p:nvSpPr>
        <p:spPr>
          <a:xfrm>
            <a:off x="603504" y="4151376"/>
            <a:ext cx="164592" cy="16459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0392" y="4133088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9032" y="4078224"/>
            <a:ext cx="43891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박○○님이 "특허 동향" 자료를 공유했습니다.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25312" y="4078224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10-05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553712"/>
            <a:ext cx="6675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603504" y="4718304"/>
            <a:ext cx="164592" cy="16459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0392" y="4700016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FFFFFF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99032" y="4645152"/>
            <a:ext cx="43891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월간 리포트(2026.09)가 발행되었습니다.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25312" y="4645152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r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10-01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5239512"/>
            <a:ext cx="6675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◀  1  2  3  ▶</a:t>
            </a:r>
          </a:p>
        </p:txBody>
      </p:sp>
      <p:sp>
        <p:nvSpPr>
          <p:cNvPr id="97" name="Oval 96"/>
          <p:cNvSpPr/>
          <p:nvPr/>
        </p:nvSpPr>
        <p:spPr>
          <a:xfrm>
            <a:off x="48463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8" name="Oval 97"/>
          <p:cNvSpPr/>
          <p:nvPr/>
        </p:nvSpPr>
        <p:spPr>
          <a:xfrm>
            <a:off x="523951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9" name="Oval 98"/>
          <p:cNvSpPr/>
          <p:nvPr/>
        </p:nvSpPr>
        <p:spPr>
          <a:xfrm>
            <a:off x="484632" y="22860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512064" y="243230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1" name="Oval 100"/>
          <p:cNvSpPr/>
          <p:nvPr/>
        </p:nvSpPr>
        <p:spPr>
          <a:xfrm>
            <a:off x="6656832" y="240487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2" name="Oval 101"/>
          <p:cNvSpPr/>
          <p:nvPr/>
        </p:nvSpPr>
        <p:spPr>
          <a:xfrm>
            <a:off x="3547872" y="522122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498079" y="1463040"/>
          <a:ext cx="423367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필터 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전체 / 읽지 않음 / 공유 / 리포트 / 시스템. 읽지 않음 건수는 적색 강조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[모두 읽음] · [선택 삭제]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모두 읽음: 현재 필터 대상 일괄 처리. 삭제는 확인창 후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알림 행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유형 태그 + 제목 + 시각. 클릭 시 읽음 처리 후 연결 화면으로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읽지 않음 표시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적색 점 + 제목 굵게 + 연한 배경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시각 표기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24시간 이내 "N분/시간 전", 이후 YYYY-MM-DD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페이지네이션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20건씩. 필터 변경 시 1페이지로 초기화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Ⅲ-10.  공지사항 (BRD-001)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서비스 공지 · 점검 안내를 목록과 상세로 확인하는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작성 · 수정은 시스템 관리자만 · 필독 공지는 로그인 후 팝업 1회 노출   |   논의 필요: 알림센터 연동 범위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BRD-001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마이페이지 &gt; 공지사항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462272" y="1920240"/>
            <a:ext cx="1920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제목 · 내용 검색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55664" y="1920240"/>
            <a:ext cx="73152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2267712"/>
            <a:ext cx="54864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번호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2267712"/>
            <a:ext cx="402336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제목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2267712"/>
            <a:ext cx="10972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작성일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2267712"/>
            <a:ext cx="100584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조회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2468880"/>
            <a:ext cx="54864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B3261E"/>
                </a:solidFill>
                <a:latin typeface="Malgun Gothic"/>
                <a:ea typeface="Malgun Gothic"/>
              </a:rPr>
              <a:t>공지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97280" y="2468880"/>
            <a:ext cx="402336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[필독] 10/15 시스템 정기 점검 안내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2468880"/>
            <a:ext cx="109728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2468880"/>
            <a:ext cx="100584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812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2706624"/>
            <a:ext cx="54864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B3261E"/>
                </a:solidFill>
                <a:latin typeface="Malgun Gothic"/>
                <a:ea typeface="Malgun Gothic"/>
              </a:rPr>
              <a:t>공지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2706624"/>
            <a:ext cx="402336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5A6577"/>
                </a:solidFill>
                <a:latin typeface="Malgun Gothic"/>
                <a:ea typeface="Malgun Gothic"/>
              </a:rPr>
              <a:t>신규 기능(알림센터) 오픈 안내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20640" y="2706624"/>
            <a:ext cx="109728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2706624"/>
            <a:ext cx="1005840" cy="237744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640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2944368"/>
            <a:ext cx="548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97280" y="2944368"/>
            <a:ext cx="40233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서비스 이용 가이드 개정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0" y="2944368"/>
            <a:ext cx="10972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2026-09-20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2944368"/>
            <a:ext cx="10058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455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3182112"/>
            <a:ext cx="548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3182112"/>
            <a:ext cx="40233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답변 품질 개선 업데이트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3182112"/>
            <a:ext cx="10972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2026-09-11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182112"/>
            <a:ext cx="10058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389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456432"/>
            <a:ext cx="6675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◀  1  2  3  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3730752"/>
            <a:ext cx="6675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  <a:ea typeface="Malgun Gothic"/>
              </a:rPr>
              <a:t>[필독] 10/15 시스템 정기 점검 안내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3968496"/>
            <a:ext cx="66751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작성자 운영팀   ·   작성일 2026-10-07   ·   조회 812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169664"/>
            <a:ext cx="6675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10/15(목) 02:00~04:00 시스템 정기 점검이 진행됩니다.</a:t>
            </a:r>
          </a:p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점검 시간 동안 서비스 이용이 제한되며, 진행 중인 대화는 저장되지 않을 수 있습니다.</a:t>
            </a:r>
          </a:p>
          <a:p>
            <a:pPr algn="l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문의: [운영 담당자 · 연락처]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5513832"/>
            <a:ext cx="3657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1B2A4A"/>
                </a:solidFill>
                <a:latin typeface="Malgun Gothic"/>
                <a:ea typeface="Malgun Gothic"/>
              </a:rPr>
              <a:t>첨부  점검안내.pdf (120KB)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742432" y="569671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목록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55664" y="5696712"/>
            <a:ext cx="73152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이전 · 다음</a:t>
            </a:r>
          </a:p>
        </p:txBody>
      </p:sp>
      <p:sp>
        <p:nvSpPr>
          <p:cNvPr id="93" name="Oval 92"/>
          <p:cNvSpPr/>
          <p:nvPr/>
        </p:nvSpPr>
        <p:spPr>
          <a:xfrm>
            <a:off x="4325112" y="192024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4" name="Oval 93"/>
          <p:cNvSpPr/>
          <p:nvPr/>
        </p:nvSpPr>
        <p:spPr>
          <a:xfrm>
            <a:off x="484632" y="22860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5" name="Oval 94"/>
          <p:cNvSpPr/>
          <p:nvPr/>
        </p:nvSpPr>
        <p:spPr>
          <a:xfrm>
            <a:off x="484632" y="37307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6" name="Oval 95"/>
          <p:cNvSpPr/>
          <p:nvPr/>
        </p:nvSpPr>
        <p:spPr>
          <a:xfrm>
            <a:off x="484632" y="4187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7" name="Oval 96"/>
          <p:cNvSpPr/>
          <p:nvPr/>
        </p:nvSpPr>
        <p:spPr>
          <a:xfrm>
            <a:off x="484632" y="55138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7498079" y="1463040"/>
          <a:ext cx="4233672" cy="2670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제목 · 검색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제목 · 내용 검색. 2자 이상. 결과 없으면 "검색 결과가 없습니다."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필독 공지는 상단 고정(번호 대신 '공지'). 10건씩, 최신순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상세 제목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행 클릭 시 하단에 상세 표시(페이지 이동 없음). 조회수 +1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본문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서식 · 링크 · 이미지 허용. 비로그인 · 권한 없음 접근 차단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첨부 · 이동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첨부 다운로드(파일명 · 용량). 이전 / 다음 글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Ⅲ-11.  권한 신청 (AUT-010)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열람 권한이 없는 메뉴 · 자료에 대해 권한을 신청하고 처리 현황을 확인합니다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승인 · 반려 이력 보관 · 승인 권한은 신청 기간 종료 후 자동 회수   |   논의 필요: 부재 시 승인 위임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AUT-010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마이페이지 &gt; 권한 신청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2221991"/>
            <a:ext cx="6675120" cy="21945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신청 정보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2523744"/>
            <a:ext cx="91440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신청 대상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81328" y="2523744"/>
            <a:ext cx="57424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[메뉴 · 게시판 선택]  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852928"/>
            <a:ext cx="91440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신청 기간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81328" y="2852928"/>
            <a:ext cx="57424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[YYYY-MM-DD] ~ [YYYY-MM-DD]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3182112"/>
            <a:ext cx="91440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승인자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81328" y="3182112"/>
            <a:ext cx="5742432" cy="256032"/>
          </a:xfrm>
          <a:prstGeom prst="rect">
            <a:avLst/>
          </a:prstGeom>
          <a:solidFill>
            <a:srgbClr val="F7F8FB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[소속 팀장 · 자동 지정]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3547872"/>
            <a:ext cx="914400" cy="64008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* 신청 사유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81328" y="3547872"/>
            <a:ext cx="574243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[업무 사유를 구체적으로 입력]                                          0 / 500자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50992" y="427939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64224" y="4279392"/>
            <a:ext cx="82296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신청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645152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1B2A4A"/>
                </a:solidFill>
                <a:latin typeface="Malgun Gothic"/>
                <a:ea typeface="Malgun Gothic"/>
              </a:rPr>
              <a:t>신청 내역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846320"/>
            <a:ext cx="10972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신청일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0" y="4846320"/>
            <a:ext cx="21031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39" y="4846320"/>
            <a:ext cx="128016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기간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0" y="4846320"/>
            <a:ext cx="10972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승인자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0" y="4846320"/>
            <a:ext cx="10972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상태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5047488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45920" y="5047488"/>
            <a:ext cx="21031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인사 게시판 (열람)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39" y="5047488"/>
            <a:ext cx="12801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~ 2026-12-31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5047488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김○○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5047488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승인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266944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45920" y="5266944"/>
            <a:ext cx="21031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경영 리포트 (열람)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49039" y="5266944"/>
            <a:ext cx="12801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~ 2026-10-31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0" y="5266944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이○○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0" y="5266944"/>
            <a:ext cx="10972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대기</a:t>
            </a:r>
          </a:p>
        </p:txBody>
      </p:sp>
      <p:sp>
        <p:nvSpPr>
          <p:cNvPr id="91" name="Oval 90"/>
          <p:cNvSpPr/>
          <p:nvPr/>
        </p:nvSpPr>
        <p:spPr>
          <a:xfrm>
            <a:off x="484632" y="2221991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84632" y="254203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484632" y="356616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5513832" y="42976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484632" y="46451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7498079" y="1463040"/>
          <a:ext cx="4233672" cy="2670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신청 정보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신청 대상 · 기간 필수. 대상 목록은 본인에게 권한이 없는 메뉴만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입력 항목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기간은 오늘 이후 최대 N개월. 승인자는 소속 팀장 자동 지정(수정 불가)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신청 사유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최대 500자, 필수. 개인정보 입력 금지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[취소] / [신청]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신청 시 확인창 후 접수, 승인자에게 알림 메일(NT-003). 중복 신청 차단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신청 내역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본인 이력과 상태(대기 / 승인 / 반려). 반려 시 사유 표시, [재신청] 가능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Ⅲ-13.  문서 · 임베딩 현황 (ADM-020)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게시판별 문서 수집 · 임베딩 상태를 조회하고 실패 건을 재실행하는 관리자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시스템 관리자만 접근 · 서버 경로 · 호스트 정보는 화면 비노출   |   논의 필요: 임베딩 대상 게시판 자동 확장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ADM-020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관리자 &gt; 데이터 &gt; 임베딩 현황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시스템 관리자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3095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조회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2531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초기화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19672" y="1920240"/>
            <a:ext cx="713232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일괄 재실행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231136"/>
            <a:ext cx="6675120" cy="3657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게시판   전체 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6771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상태   전체 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1363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실행 유형   전체 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955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기간   최근 7일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2706624"/>
            <a:ext cx="2743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2706624"/>
            <a:ext cx="15544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게시판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77439" y="2706624"/>
            <a:ext cx="7315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문서 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2706624"/>
            <a:ext cx="6400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공개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49040" y="2706624"/>
            <a:ext cx="91440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상태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2706624"/>
            <a:ext cx="11887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최근 실행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52160" y="2706624"/>
            <a:ext cx="137160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작업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2907791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2907791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업무 서식 게시판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439" y="2907791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1,284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08960" y="2907791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공개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2907791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성공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63440" y="2907791"/>
            <a:ext cx="11887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10-08 01:20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52160" y="2907791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[상세]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127248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" y="312724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규정 게시판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77439" y="3127248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08960" y="3127248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공개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40" y="3127248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진행 중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3440" y="3127248"/>
            <a:ext cx="11887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10-08 01:20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52160" y="3127248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[상세]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3346704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" y="3346704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공지사항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77439" y="3346704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2,045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08960" y="3346704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공개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49040" y="3346704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B3261E"/>
                </a:solidFill>
                <a:latin typeface="Malgun Gothic"/>
                <a:ea typeface="Malgun Gothic"/>
              </a:rPr>
              <a:t>실패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3346704"/>
            <a:ext cx="11887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10-08 01:20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52160" y="3346704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[재실행]  [상세]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3566160"/>
            <a:ext cx="274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3566160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인사 가이드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39" y="3566160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96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0" y="3566160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비공개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749040" y="3566160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성공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63440" y="3566160"/>
            <a:ext cx="11887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10-07 01:20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52160" y="3566160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[상세]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3867912"/>
            <a:ext cx="6675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◀  1  2  ▶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4096512"/>
            <a:ext cx="6675120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작업 상세 — 공지사항 (실패)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4315968"/>
            <a:ext cx="6675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" y="4389120"/>
            <a:ext cx="914400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실행 유형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54480" y="4389120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자동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" y="4736592"/>
            <a:ext cx="914400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시작 / 종료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54480" y="4736592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01:20 / 01:41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1792" y="5084064"/>
            <a:ext cx="914400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처리 건수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54480" y="5084064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총 2,045 · 성공 1,990 · 실패 55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1792" y="5431536"/>
            <a:ext cx="914400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1A2233"/>
                </a:solidFill>
                <a:latin typeface="Malgun Gothic"/>
                <a:ea typeface="Malgun Gothic"/>
              </a:rPr>
              <a:t>오류 구분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54480" y="543153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외부 API 지연 (재실행 가능)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828032" y="5010912"/>
            <a:ext cx="91440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실패 건 재실행</a:t>
            </a:r>
          </a:p>
        </p:txBody>
      </p:sp>
      <p:sp>
        <p:nvSpPr>
          <p:cNvPr id="119" name="Oval 118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0" name="Oval 119"/>
          <p:cNvSpPr/>
          <p:nvPr/>
        </p:nvSpPr>
        <p:spPr>
          <a:xfrm>
            <a:off x="519379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1" name="Oval 120"/>
          <p:cNvSpPr/>
          <p:nvPr/>
        </p:nvSpPr>
        <p:spPr>
          <a:xfrm>
            <a:off x="484632" y="27249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2" name="Oval 121"/>
          <p:cNvSpPr/>
          <p:nvPr/>
        </p:nvSpPr>
        <p:spPr>
          <a:xfrm>
            <a:off x="4325112" y="29260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23" name="Oval 122"/>
          <p:cNvSpPr/>
          <p:nvPr/>
        </p:nvSpPr>
        <p:spPr>
          <a:xfrm>
            <a:off x="5925312" y="334670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24" name="Oval 123"/>
          <p:cNvSpPr/>
          <p:nvPr/>
        </p:nvSpPr>
        <p:spPr>
          <a:xfrm>
            <a:off x="484632" y="4096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25" name="Oval 124"/>
          <p:cNvSpPr/>
          <p:nvPr/>
        </p:nvSpPr>
        <p:spPr>
          <a:xfrm>
            <a:off x="4690872" y="5029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7498079" y="1463040"/>
          <a:ext cx="4233672" cy="36941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조회조건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게시판 · 상태 · 실행 유형(자동 / 수동 / 재실행) · 기간. 기본 최근 7일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조회 / 초기화 / 일괄 재실행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일괄 재실행은 체크한 '실패' 건만 대상. 진행 중 건은 제외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게시판별 문서 수 · 공개 여부 · 상태 · 최근 실행. 상태: 성공 / 진행 중 / 오류 / 실패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상태 표시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실패는 적색, 진행 중은 남색 굵게. 클릭 시 하단 상세에 로드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[재실행] · [상세]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재실행은 실패 건만 활성. 재실행 불가 오류는 버튼 대신 안내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작업 상세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유형 · 시간 · 건수 · 오류 구분. 오류는 2단계(기다리면 해결 / 관리자 조치 필요)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[실패 건 재실행]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확인창 후 실행, 실행 이력은 로그(ADM-030)에 기록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Ⅲ-14.  로그 · 통계 조회 (ADM-030)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질의 · 피드백 · 관리자 변경 로그를 조회하고 다운로드하는 관리자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로그 N년 보관 · 사용자명 마스킹 · 다운로드 이력 감사   |   논의 필요: 원문 열람 승인 절차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ADM-030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관리자 &gt; 로그 · 통계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시스템 관리자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2803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조회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22392" y="1920240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초기화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16752" y="1920240"/>
            <a:ext cx="118872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>엑셀 다운로드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231136"/>
            <a:ext cx="6675120" cy="3657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기간   10-01 ~ 10-07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6771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로그 유형   질의 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1363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사용자   이름 · 사번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9552" y="2286000"/>
            <a:ext cx="1554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8A93A5"/>
                </a:solidFill>
                <a:latin typeface="Malgun Gothic"/>
                <a:ea typeface="Malgun Gothic"/>
              </a:rPr>
              <a:t>결과   전체 ▾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2706624"/>
            <a:ext cx="128016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일시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0" y="2706624"/>
            <a:ext cx="82296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2706624"/>
            <a:ext cx="7315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유형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83280" y="2706624"/>
            <a:ext cx="256032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내용 요약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2706624"/>
            <a:ext cx="6400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결과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0" y="2706624"/>
            <a:ext cx="640080" cy="20116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1">
                <a:solidFill>
                  <a:srgbClr val="1A2233"/>
                </a:solidFill>
                <a:latin typeface="Malgun Gothic"/>
                <a:ea typeface="Malgun Gothic"/>
              </a:rPr>
              <a:t>소요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2907791"/>
            <a:ext cx="128016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10-07 18:21:05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0" y="2907791"/>
            <a:ext cx="82296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홍○○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51760" y="2907791"/>
            <a:ext cx="73152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질의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83280" y="2907791"/>
            <a:ext cx="256032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연차 사용 기한이 언제까지인가요?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2907791"/>
            <a:ext cx="64008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성공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2907791"/>
            <a:ext cx="640080" cy="219456"/>
          </a:xfrm>
          <a:prstGeom prst="rect">
            <a:avLst/>
          </a:prstGeom>
          <a:solidFill>
            <a:srgbClr val="F4F7FD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3.2s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3127248"/>
            <a:ext cx="12801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10-07 16:02:41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0" y="3127248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김○○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3127248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피드백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83280" y="3127248"/>
            <a:ext cx="2560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싫어요 · 답변이 부정확해요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127248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접수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3127248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3346704"/>
            <a:ext cx="12801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10-07 11:45:10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0" y="3346704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이○○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3346704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83280" y="3346704"/>
            <a:ext cx="2560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권한 변경 (일반 → 팀 관리자)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0" y="3346704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성공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0" y="3346704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-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3566160"/>
            <a:ext cx="12801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10-07 09:12:33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28800" y="3566160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박○○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0" y="3566160"/>
            <a:ext cx="7315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질의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83280" y="3566160"/>
            <a:ext cx="2560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출장비 정산 기준 알려줘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43600" y="3566160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B3261E"/>
                </a:solidFill>
                <a:latin typeface="Malgun Gothic"/>
                <a:ea typeface="Malgun Gothic"/>
              </a:rPr>
              <a:t>실패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3680" y="3566160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30s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8640" y="3867912"/>
            <a:ext cx="6675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◀  1  2  3  ▶       50건씩 보기 ▾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4096512"/>
            <a:ext cx="6675120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상세 로그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4315968"/>
            <a:ext cx="6675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세션 ID  S-20261007-0412  /  응답 시간 3.2s  /  토큰 입력 820 · 출력 410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질문   연차 사용 기한이 언제까지인가요?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답변   연차는 당해 연도 말일까지… (출처 3건)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출처   연차휴가 운영 지침 · 휴가 관리 규정 · 연차 이월 신청서</a:t>
            </a:r>
          </a:p>
          <a:p>
            <a:pPr algn="l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평가   좋아요</a:t>
            </a:r>
          </a:p>
        </p:txBody>
      </p:sp>
      <p:sp>
        <p:nvSpPr>
          <p:cNvPr id="105" name="Oval 104"/>
          <p:cNvSpPr/>
          <p:nvPr/>
        </p:nvSpPr>
        <p:spPr>
          <a:xfrm>
            <a:off x="484632" y="22677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4690872" y="190195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484632" y="27249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8" name="Oval 107"/>
          <p:cNvSpPr/>
          <p:nvPr/>
        </p:nvSpPr>
        <p:spPr>
          <a:xfrm>
            <a:off x="6565392" y="292608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9" name="Oval 108"/>
          <p:cNvSpPr/>
          <p:nvPr/>
        </p:nvSpPr>
        <p:spPr>
          <a:xfrm>
            <a:off x="484632" y="38679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10" name="Oval 109"/>
          <p:cNvSpPr/>
          <p:nvPr/>
        </p:nvSpPr>
        <p:spPr>
          <a:xfrm>
            <a:off x="484632" y="40965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7498079" y="1463040"/>
          <a:ext cx="423367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조회조건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기간(최대 3개월) · 로그 유형(질의 / 피드백 / 관리자 변경 / 접속) · 사용자 · 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[버튼] 조회 / 초기화 / 엑셀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엑셀은 최대 N만 건. 다운로드 사실 자체를 로그로 기록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로그 목록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일시 · 사용자(마스킹) · 유형 · 요약 · 결과 · 소요. 최신순 50건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결과 표시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실패는 적색. 사유는 상세에서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페이지네이션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10 / 20 / 50 / 100건 선택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상세 로그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질문 · 답변 · 출처 · 토큰 · 평가 표시. 원문 열람은 보안 담당 승인 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Ⅲ-16.  오류 · 점검 안내 (ERR-001~003)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페이지 없음 · 서버 오류 · 점검 중 세 가지 시스템 안내 화면입니다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정책: 오류 ID만 사용자에게 표시, 상세는 서버 로그   |   논의 필요: 점검 중 관리자 예외 접속 허용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화면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463040"/>
            <a:ext cx="100584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ERR-001~003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1463040"/>
            <a:ext cx="256032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공통 &gt; 오류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463040"/>
            <a:ext cx="548640" cy="256032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59" y="1463040"/>
            <a:ext cx="868680" cy="256032"/>
          </a:xfrm>
          <a:prstGeom prst="rect">
            <a:avLst/>
          </a:prstGeom>
          <a:noFill/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전체 사용자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527048"/>
            <a:ext cx="457200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1828800"/>
            <a:ext cx="6858000" cy="4206240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" y="2084832"/>
            <a:ext cx="2103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" y="2221991"/>
            <a:ext cx="18288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ERR-001</a:t>
            </a:r>
          </a:p>
        </p:txBody>
      </p:sp>
      <p:sp>
        <p:nvSpPr>
          <p:cNvPr id="66" name="Oval 65"/>
          <p:cNvSpPr/>
          <p:nvPr/>
        </p:nvSpPr>
        <p:spPr>
          <a:xfrm>
            <a:off x="1261872" y="2633472"/>
            <a:ext cx="822960" cy="822960"/>
          </a:xfrm>
          <a:prstGeom prst="ellipse">
            <a:avLst/>
          </a:prstGeom>
          <a:solidFill>
            <a:srgbClr val="F3F5F9"/>
          </a:solidFill>
          <a:ln w="15875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344" b="1">
                <a:solidFill>
                  <a:srgbClr val="8A93A5"/>
                </a:solidFill>
                <a:latin typeface="Malgun Gothic"/>
                <a:ea typeface="Malgun Gothic"/>
              </a:rPr>
              <a:t>404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3593591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페이지를 찾을 수 없습니다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4096512"/>
            <a:ext cx="19202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주소가 변경되었거나 삭제된 페이지입니다.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3272" y="5010912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메인으로 이동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62072" y="2084832"/>
            <a:ext cx="2103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999232" y="2221991"/>
            <a:ext cx="18288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ERR-002</a:t>
            </a:r>
          </a:p>
        </p:txBody>
      </p:sp>
      <p:sp>
        <p:nvSpPr>
          <p:cNvPr id="72" name="Oval 71"/>
          <p:cNvSpPr/>
          <p:nvPr/>
        </p:nvSpPr>
        <p:spPr>
          <a:xfrm>
            <a:off x="3502152" y="2633472"/>
            <a:ext cx="822960" cy="822960"/>
          </a:xfrm>
          <a:prstGeom prst="ellipse">
            <a:avLst/>
          </a:prstGeom>
          <a:solidFill>
            <a:srgbClr val="F3F5F9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344" b="1">
                <a:solidFill>
                  <a:srgbClr val="B3261E"/>
                </a:solidFill>
                <a:latin typeface="Malgun Gothic"/>
                <a:ea typeface="Malgun Gothic"/>
              </a:rPr>
              <a:t>500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53512" y="3593591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일시적인 오류가 발생했습니다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4096512"/>
            <a:ext cx="19202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잠시 후 다시 시도해 주세요. 문제가 계속되면 문의 바랍니다.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73552" y="5010912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다시 시도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02352" y="2084832"/>
            <a:ext cx="2103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0">
                <a:solidFill>
                  <a:srgbClr val="5A6577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5239512" y="2221991"/>
            <a:ext cx="18288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728" b="1">
                <a:solidFill>
                  <a:srgbClr val="1B2A4A"/>
                </a:solidFill>
                <a:latin typeface="Malgun Gothic"/>
                <a:ea typeface="Malgun Gothic"/>
              </a:rPr>
              <a:t>ERR-003</a:t>
            </a:r>
          </a:p>
        </p:txBody>
      </p:sp>
      <p:sp>
        <p:nvSpPr>
          <p:cNvPr id="78" name="Oval 77"/>
          <p:cNvSpPr/>
          <p:nvPr/>
        </p:nvSpPr>
        <p:spPr>
          <a:xfrm>
            <a:off x="5742432" y="2633472"/>
            <a:ext cx="822960" cy="822960"/>
          </a:xfrm>
          <a:prstGeom prst="ellipse">
            <a:avLst/>
          </a:prstGeom>
          <a:solidFill>
            <a:srgbClr val="F3F5F9"/>
          </a:solidFill>
          <a:ln w="15875">
            <a:solidFill>
              <a:srgbClr val="8A9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344" b="1">
                <a:solidFill>
                  <a:srgbClr val="8A93A5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93792" y="3593591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896" b="1">
                <a:solidFill>
                  <a:srgbClr val="1B2A4A"/>
                </a:solidFill>
                <a:latin typeface="Malgun Gothic"/>
                <a:ea typeface="Malgun Gothic"/>
              </a:rPr>
              <a:t>서비스 점검 중입니다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93792" y="4096512"/>
            <a:ext cx="19202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36000" tIns="18000" bIns="18000"/>
          <a:lstStyle/>
          <a:p>
            <a:pPr algn="ctr"/>
            <a:r>
              <a:rPr sz="728" b="0">
                <a:solidFill>
                  <a:srgbClr val="5A6577"/>
                </a:solidFill>
                <a:latin typeface="Malgun Gothic"/>
                <a:ea typeface="Malgun Gothic"/>
              </a:rPr>
              <a:t>2026-10-15 02:00 ~ 04:00 (종료 시 자동 접속 가능)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13832" y="5010912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784" b="1">
                <a:solidFill>
                  <a:srgbClr val="FFFFFF"/>
                </a:solidFill>
                <a:latin typeface="Malgun Gothic"/>
                <a:ea typeface="Malgun Gothic"/>
              </a:rPr>
              <a:t>공지 확인</a:t>
            </a:r>
          </a:p>
        </p:txBody>
      </p:sp>
      <p:sp>
        <p:nvSpPr>
          <p:cNvPr id="82" name="Oval 81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3" name="Oval 82"/>
          <p:cNvSpPr/>
          <p:nvPr/>
        </p:nvSpPr>
        <p:spPr>
          <a:xfrm>
            <a:off x="548640" y="3639312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4" name="Oval 83"/>
          <p:cNvSpPr/>
          <p:nvPr/>
        </p:nvSpPr>
        <p:spPr>
          <a:xfrm>
            <a:off x="548640" y="5029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5" name="Oval 84"/>
          <p:cNvSpPr/>
          <p:nvPr/>
        </p:nvSpPr>
        <p:spPr>
          <a:xfrm>
            <a:off x="2788920" y="5029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86" name="Oval 85"/>
          <p:cNvSpPr/>
          <p:nvPr/>
        </p:nvSpPr>
        <p:spPr>
          <a:xfrm>
            <a:off x="5029200" y="5029200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7498079" y="1463040"/>
          <a:ext cx="4233672" cy="2798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"/>
                <a:gridCol w="3922776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(Description)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상태 아이콘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404 / 500 / 점검 구분 코드. 오류(500)는 적색 강조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안내 제목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사용자가 이해할 수 있는 한 줄 문구. 서버 · 경로 · 스택 정보는 노출하지 않음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[메인으로 이동]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404에서 메인(CHT-001)으로. 로그인 전이면 AUTH-001로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[다시 시도]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500에서 직전 요청 1회 재시도. 3회 연속 실패 시 문의 안내 추가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B2A4A"/>
                          </a:solidFill>
                          <a:latin typeface="Malgun Gothic"/>
                          <a:ea typeface="Malgun Gothic"/>
                        </a:rPr>
                        <a:t>[공지 확인]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577"/>
                          </a:solidFill>
                          <a:latin typeface="Malgun Gothic"/>
                          <a:ea typeface="Malgun Gothic"/>
                        </a:rPr>
                        <a:t>점검 화면에서 공지(BRD-001)로 이동. 종료 후 자동 새로고침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정의서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화면 설계와 함께 전달하는 정의서입니다. 모든 정의서는 화면 ID · 메시지 ID로 서로 연결합니다.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권한 · 메시지 · 입력 항목 · 공통코드</a:t>
            </a:r>
          </a:p>
          <a:p>
            <a:r>
              <a:t>연계 · 배치 · 알림 · AI 기능 · 지표</a:t>
            </a:r>
          </a:p>
          <a:p>
            <a:r>
              <a:t>예외 · 이슈 · 요구사항 추적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Ⅳ-1.  메시지 · 권한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역할별 접근 권한과 화면에 노출되는 모든 문구를 ID로 관리합니다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● 전체 허용  ○ 조건부 허용  – 불가   |   메시지 유형: Alert / Confirm / Toast / Inline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49377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사용자 · 권한 매트릭스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54864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522976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920240"/>
          <a:ext cx="4937760" cy="30906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1188720"/>
                <a:gridCol w="50292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[기능 A]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[기능 A] 등록 · 수정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[기능 A] 삭제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[기능 B] 다운로드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· 권한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090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 · 통계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091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[기능 C]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6217920" y="1463040"/>
            <a:ext cx="496519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메시지 · 알럿 정의서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17920" y="1792224"/>
            <a:ext cx="551383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217920" y="1920240"/>
          <a:ext cx="5513832" cy="30906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640080"/>
                <a:gridCol w="2103120"/>
                <a:gridCol w="199339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유형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발생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노출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Confirm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[삭제] 클릭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"선택한 항목을 삭제하시겠습니까?"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Toast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저장 성공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"저장되었습니다." (3초)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Alert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필수 항목 누락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"[항목명]을(를) 입력해 주세요."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Inline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 오류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"올바른 형식으로 입력해 주세요."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Ⅳ-2.  입력 항목 · 공통코드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개발 · 테스트 기준이 되는 입력 규칙과 코드 값을 한 곳에서 관리합니다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입력 항목 정의서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920240"/>
          <a:ext cx="11274552" cy="1664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1554480"/>
                <a:gridCol w="1188720"/>
                <a:gridCol w="548640"/>
                <a:gridCol w="1645920"/>
                <a:gridCol w="1097280"/>
                <a:gridCol w="2468880"/>
                <a:gridCol w="231343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필수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 / 길이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기본값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검증 규칙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오류 메시지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[항목명]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텍스트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한글 · 영문 100자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[공백 불가 · 특수문자 제한]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[항목명을 입력해 주세요.]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[항목명]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드롭다운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 선택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[선택]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[목록은 공통코드 기준]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[항목을 선택해 주세요.]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날짜 범위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YYYY-MM-DD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최근 30일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[시작일 ≤ 종료일 · 최대 N일]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[기간을 확인해 주세요.]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457200" y="384048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공통코드 정의서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7200" y="416966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311128" y="390448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4297680"/>
          <a:ext cx="11274552" cy="1517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1554480"/>
                <a:gridCol w="1188720"/>
                <a:gridCol w="1737360"/>
                <a:gridCol w="640080"/>
                <a:gridCol w="640080"/>
                <a:gridCol w="3959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코드 그룹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그룹명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코드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코드명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 · 사용 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USER_ROLE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역할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ADMIN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매트릭스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FEEDBACK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유형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LIKE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좋아요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응답 평가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FB_REASON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싫어요 사유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[사유 문구]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[예: 답변이 부정확해요]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EMBED_STATUS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임베딩 상태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RUN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진행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 임베딩 현황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Ⅳ-3.  연계 · 배치 · 알림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시스템 간 연계와 정기 실행, 사용자 알림의 조건 · 처리 기준을 정의합니다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배치 주기는 cron 표기와 한글 설명을 함께 기재   |   알림은 발송 이력 · 수신 거부 관리 여부를 비고에 명시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연계 (인터페이스) 정의서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874519"/>
          <a:ext cx="11274552" cy="9875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737360"/>
                <a:gridCol w="1554480"/>
                <a:gridCol w="1097280"/>
                <a:gridCol w="1554480"/>
                <a:gridCol w="2926080"/>
                <a:gridCol w="167335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시스템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호출 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입력 → 출력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오류 · 재시도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[사용자 인증 연동]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[SSO · 그룹웨어]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/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로그인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[토큰] → [사용자 ID · 소속 · 권한]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[실패 시 로그인 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[문서 검색 API]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[사내 게시판]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REST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 요청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[질의어 · 사용자 ID] → [문서 목록 · 권한]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[타임아웃 N초 · 재시도 N회]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457200" y="310896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배치 정의서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7200" y="343814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311128" y="317296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3520440"/>
          <a:ext cx="11274552" cy="9875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737360"/>
                <a:gridCol w="1828800"/>
                <a:gridCol w="3291840"/>
                <a:gridCol w="1097280"/>
                <a:gridCol w="1371600"/>
                <a:gridCol w="121615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배치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배치명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실행 주기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처리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선행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실패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대상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BT-001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[사용자 동기화]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매일 03:00 (0 0 3 * * ?)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[인사 DB 기준 사용자 · 조직 정보 갱신]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[재시도 N회 후 알림]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[운영 담당자]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BT-002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[접속 로그 삭제]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매월 1일 00:00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[N개월 경과 로그 삭제]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[다음 주기 재실행]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[운영 담당자]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457200" y="475488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메일 · 알림 정의서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57200" y="508406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1311128" y="481888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457200" y="5166360"/>
          <a:ext cx="11274552" cy="9509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737360"/>
                <a:gridCol w="914400"/>
                <a:gridCol w="2743200"/>
                <a:gridCol w="1463040"/>
                <a:gridCol w="2560320"/>
                <a:gridCol w="112471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채널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발송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수신 대상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제목 / 본문 구성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첨부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[정기 리포트 메일]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[매주 월 09:00 배치 완료 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[구독 신청자]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[제목] [시스템명] 주간 리포트 / 요약 3줄 + 링크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PDF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[공유 알림]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메일 · 팝업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[타 사용자가 자료 공유 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[공유 대상자]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[제목 · 본문 문구]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[링크]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Ⅳ-4.  AI 기능 · 지표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AI 기능별 처리 · 가드레일 · 피드백 기준과 대시보드 지표의 산식을 정의합니다 (AI/AX 필수 항목)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AI 기능 정의서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874519"/>
          <a:ext cx="11274552" cy="1188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280160"/>
                <a:gridCol w="1645920"/>
                <a:gridCol w="3108960"/>
                <a:gridCol w="1554480"/>
                <a:gridCol w="1645920"/>
                <a:gridCol w="130759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기능명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처리 단계 (검색 · 생성 · 검증)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출력 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가드레일 · 금칙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[질의응답]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[자연어 질문 · 첨부]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① 질의 분석 → ② 문서 검색(권한 필터) → ③ 답변 생성 → ④ 출처 인용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[답변 + 출처 카드]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[금칙어 · 개인정보 마스킹 · 권한 없는 문서 비노출]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좋아요 / 싫어요 · 사유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[요약]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[원문 · 대상 범위]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[단계를 입력합니다.]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[요약 + 키워드]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[가드레일]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[방식]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457200" y="3246120"/>
            <a:ext cx="27432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1">
                <a:solidFill>
                  <a:srgbClr val="1B2A4A"/>
                </a:solidFill>
                <a:latin typeface="Malgun Gothic"/>
                <a:ea typeface="Malgun Gothic"/>
              </a:rPr>
              <a:t>AI 공통 정책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566160"/>
            <a:ext cx="214884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모델 / 버전</a:t>
            </a:r>
          </a:p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[모델명 · 버전 · 갱신 기준]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34056" y="3566160"/>
            <a:ext cx="214884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응답 언어</a:t>
            </a:r>
          </a:p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[한국어 / 영어 / 중국어]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10912" y="3566160"/>
            <a:ext cx="214884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출처 표기</a:t>
            </a:r>
          </a:p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[출처 카드 · 인용 번호 규칙]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87768" y="3566160"/>
            <a:ext cx="214884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개인정보 · 보안</a:t>
            </a:r>
          </a:p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[입력 · 로그 마스킹 · 학습 활용 여부]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64624" y="3566160"/>
            <a:ext cx="214884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성능 목표</a:t>
            </a:r>
          </a:p>
          <a:p>
            <a:pPr algn="l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[정확도 · 응답 시간 · 만족도]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4348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통계 · 지표 정의서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7200" y="47640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11311128" y="44988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457200" y="4846320"/>
          <a:ext cx="11274552" cy="914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1737360"/>
                <a:gridCol w="3108960"/>
                <a:gridCol w="1645920"/>
                <a:gridCol w="1463040"/>
                <a:gridCol w="1005840"/>
                <a:gridCol w="149047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지표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지표명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집계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출처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갱신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시각화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[활성 사용자 수]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[기간 내 로그인 1회 이상 고유 사용자]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일/주/월 · 법인별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[접속 로그]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매일 01:00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꺾은선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[AI 응답 만족도]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[좋아요 ÷ (좋아요 + 싫어요) × 100]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 · 전사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[피드백 로그]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매일 01:00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 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Ⅳ-5.  예외 · 이슈 · 요구사항 추적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예외 상황과 미결 사항을 관리하고, 요구사항이 화면 · 개발 · 테스트까지 이어지는지 추적합니다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결정된 이슈는 해당 화면 설명에 반영하고 버전 태그를 갱신   |   요구사항 우선순위: 상 / 중 / 하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예외 · 에러 시나리오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874519"/>
          <a:ext cx="11274552" cy="1188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1097280"/>
                <a:gridCol w="2743200"/>
                <a:gridCol w="2926080"/>
                <a:gridCol w="2651760"/>
                <a:gridCol w="139903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시나리오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노출 (UI)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관련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[필수 항목 미입력 후 저장]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[항목 하단 오류 문구 + 포커스 이동]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[저장 요청 차단]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[열람 권한 없는 자료 접근]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[권한 없음 상태 화면]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[접근 시도 로그 기록]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XXX-001-S4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[API 타임아웃 · 서버 오류]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[오류 상태 + 다시 시도]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[오류 로그 · 관리자 알림]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XXX-001-S3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457200" y="320040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이슈 · 미결 사항 관리표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7200" y="352958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311128" y="326440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3611880"/>
          <a:ext cx="11274552" cy="8778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822960"/>
                <a:gridCol w="4754880"/>
                <a:gridCol w="1188720"/>
                <a:gridCol w="1097280"/>
                <a:gridCol w="1188720"/>
                <a:gridCol w="822960"/>
                <a:gridCol w="94183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이슈 · 미결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영향 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결정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[권한 없는 사용자에게 메뉴를 노출할지 여부]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[담당자]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논의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[연계 URL 규칙 · 메타데이터 제공 방식 협의]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[담당자]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미착수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457200" y="457200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요구사항 추적표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57200" y="490118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1311128" y="463600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457200" y="4983480"/>
          <a:ext cx="11274551" cy="8412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4297680"/>
                <a:gridCol w="822960"/>
                <a:gridCol w="1280160"/>
                <a:gridCol w="1005840"/>
                <a:gridCol w="914400"/>
                <a:gridCol w="914400"/>
                <a:gridCol w="1033271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우선순위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페이지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[요구사항 내용을 입력합니다.]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p.00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미착수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미착수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[요구사항 내용을 입력합니다.]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XXX-002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p.00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미착수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미착수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다이어그램 ·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시스템 구조 · 처리 흐름 · 데이터 모델과 일정 · 품질 기준을 제시합니다.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아키텍처 · 처리 흐름</a:t>
            </a:r>
          </a:p>
          <a:p>
            <a:r>
              <a:t>데이터 모델 · 로드맵 · RACI</a:t>
            </a:r>
          </a:p>
          <a:p>
            <a:r>
              <a:t>비기능 요구사항 · UAT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Ⅴ-1.  시스템 아키텍처 (논리 구성도)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사용자 채널부터 데이터 계층까지 계층별로 구분하고, 신규 개발 영역과 기존 시스템을 구분합니다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남색 테두리 = 신규 개발   회색 박스 = 기존 · 외부 시스템   |   연계 항목은 연계 정의서(Ⅲ-3)의 ID로 상세화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08760"/>
            <a:ext cx="8869680" cy="80467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08760"/>
            <a:ext cx="1280160" cy="8046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사용자 채널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74519" y="1691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웹 브라우저 (PC)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30752" y="1691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모바일 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86983" y="1691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사내 포털 연계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404872"/>
            <a:ext cx="8869680" cy="80467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2404872"/>
            <a:ext cx="1280160" cy="8046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프레젠테이션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74519" y="2587752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챗봇 UI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30752" y="2587752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 UI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86983" y="2587752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관리자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300984"/>
            <a:ext cx="8869680" cy="80467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300984"/>
            <a:ext cx="1280160" cy="8046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서비스 API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74519" y="3483864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인증 · 권한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730752" y="3483864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대화 · 세션 관리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86983" y="3483864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검색 오케스트레이션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43216" y="3483864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알림 · 배치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197096"/>
            <a:ext cx="8869680" cy="80467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197096"/>
            <a:ext cx="1280160" cy="8046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AI 엔진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74519" y="4379976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LLM (생성)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30752" y="4379976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임베딩 · 리랭커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86983" y="4379976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가드레일 · 마스킹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43216" y="4379976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프롬프트 관리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093208"/>
            <a:ext cx="8869680" cy="80467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093208"/>
            <a:ext cx="1280160" cy="8046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74519" y="5276088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DB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730752" y="5276088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RDB (사용자 · 로그)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86983" y="5276088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파일 스토리지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43216" y="5276088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공통코드 · 캐시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1508760"/>
            <a:ext cx="2084831" cy="310896"/>
          </a:xfrm>
          <a:prstGeom prst="rect">
            <a:avLst/>
          </a:prstGeom>
          <a:solidFill>
            <a:srgbClr val="5A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기존 · 외부 시스템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46920" y="1920240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SSO · 그룹웨어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9372600" y="2203704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646920" y="263347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사내 게시판 · 문서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9372600" y="2916936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9646920" y="3346704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인사 DB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9372600" y="3630168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9646920" y="4059935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외부 API (뉴스 · 논문)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9372600" y="4343400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Ⅴ-2.  처리 흐름 및 화면 이동 흐름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AI 챗봇의 처리 단계(RAG)와 주요 화면 간 이동 경로를 한눈에 보여줍니다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화면 이동의 상세 조건 · 전달 파라미터는 화면 이동 정의서에 기재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AI 챗봇 처리 흐름 (RAG)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1. 질의 입력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사용자 질문 · 첨부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48840" y="2286000"/>
            <a:ext cx="210312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359152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2. 질의 분석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의도 · 언어 판단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050791" y="2286000"/>
            <a:ext cx="210313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261104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3. 문서 검색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+ 키워드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52744" y="2286000"/>
            <a:ext cx="210312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163056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4. 권한 필터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열람 권한 확인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854696" y="2286000"/>
            <a:ext cx="210312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065008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5. 답변 생성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LLM + 근거 문서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756648" y="2286000"/>
            <a:ext cx="210312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966960" y="1920240"/>
            <a:ext cx="16916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6. 검증 · 응답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출처 인용 확인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359152" y="2926080"/>
            <a:ext cx="1691640" cy="4114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질의 분석 모델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3200400" y="2651760"/>
            <a:ext cx="0" cy="27432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261104" y="2926080"/>
            <a:ext cx="1691640" cy="4114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벡터 DB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5102352" y="2651760"/>
            <a:ext cx="0" cy="27432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163056" y="2926080"/>
            <a:ext cx="1691640" cy="4114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권한 서비스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7004304" y="2651760"/>
            <a:ext cx="0" cy="27432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065008" y="2926080"/>
            <a:ext cx="1691640" cy="4114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LLM · 가드레일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8906256" y="2651760"/>
            <a:ext cx="0" cy="27432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57200" y="361188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화면 이동 흐름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394106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1311128" y="367588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41148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로그인</a:t>
            </a:r>
          </a:p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AUTH-001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26080" y="41148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챗봇 메인</a:t>
            </a:r>
          </a:p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CHT-001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94960" y="41148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대화 세션</a:t>
            </a:r>
          </a:p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CHT-002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0" y="41148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원문 페이지</a:t>
            </a:r>
          </a:p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(새 창)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94960" y="5166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대시보드</a:t>
            </a:r>
          </a:p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DSH-001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926080" y="5166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관리자</a:t>
            </a:r>
          </a:p>
          <a:p>
            <a:pPr algn="ctr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ADM-010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863840" y="5166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설정 · 마이페이지</a:t>
            </a:r>
          </a:p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MYP-001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377440" y="4434840"/>
            <a:ext cx="54864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46320" y="4434840"/>
            <a:ext cx="54864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315200" y="4434840"/>
            <a:ext cx="54864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480560" y="4754880"/>
            <a:ext cx="914400" cy="64008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86200" y="4754880"/>
            <a:ext cx="0" cy="41148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846320" y="4663440"/>
            <a:ext cx="3017520" cy="73152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Ⅴ-3.  데이터 모델 (개념 ERD)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핵심 엔터티와 관계를 정의합니다. 물리 테이블 설계는 개발 단계에서 상세화합니다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PK 기본키 · FK 외래키 · 1:N 일대다   |   개인정보 컬럼은 보관 기간 · 마스킹 기준을 비기능 요구사항과 연결하여 명시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DEPT (조직)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847088"/>
            <a:ext cx="24688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dept_id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dept_name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parent_id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55448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USER (사용자)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1847088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user_id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name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dept_id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role_cd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55448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CHAT_SESSION (대화)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1847088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session_id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user_id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mode (사내 / 웹)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created_at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155448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CHAT_MESSAGE (메시지)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1847088"/>
            <a:ext cx="2468880" cy="120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msg_id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session_id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role (user / ai)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content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created_at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02336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DOCUMENT (문서)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315968"/>
            <a:ext cx="2468880" cy="120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doc_id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title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dept_id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security_level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embed_status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02336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SOURCE_REF (출처)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4315968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ref_id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msg_id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doc_id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score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4023360"/>
            <a:ext cx="24688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FEEDBACK (피드백)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4315968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fb_id  PK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msg_id  FK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type_cd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reason_cd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926080" y="2194560"/>
            <a:ext cx="457200" cy="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852160" y="2194560"/>
            <a:ext cx="457200" cy="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78240" y="2194560"/>
            <a:ext cx="457200" cy="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469880" y="3246120"/>
            <a:ext cx="0" cy="77724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8778240" y="3108960"/>
            <a:ext cx="457200" cy="91440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926080" y="4663440"/>
            <a:ext cx="3383280" cy="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691640" y="2468880"/>
            <a:ext cx="0" cy="1554480"/>
          </a:xfrm>
          <a:prstGeom prst="line">
            <a:avLst/>
          </a:prstGeom>
          <a:ln w="15875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971800" y="196596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97880" y="196596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23960" y="196596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15600" y="352044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69680" y="361188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06240" y="438912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37360" y="3108960"/>
            <a:ext cx="411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B3261E"/>
                </a:solidFill>
                <a:latin typeface="Malgun Gothic"/>
                <a:ea typeface="Malgun Gothic"/>
              </a:rPr>
              <a:t>1:N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Ⅴ-4.  추진 로드맵 및 역할(RACI)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단계별 일정과 주요 마일스톤, 업무별 책임을 명확히 하여 일정 지연과 책임 공백을 방지합니다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R 수행   A 최종 승인(업무당 1명)   C 사전 협의   I 결과 통보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371600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추진 로드맵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00784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311128" y="143560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1783080"/>
            <a:ext cx="2194560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단계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57015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62272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67527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72783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83296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3808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99064" y="1783080"/>
            <a:ext cx="905256" cy="237744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2020824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기획 · 요구사항 정의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51760" y="2020824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70048" y="2057400"/>
            <a:ext cx="1321307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2267712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화면 설계 · 검수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2267712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75303" y="2304288"/>
            <a:ext cx="2226564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2514600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UI 디자인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51760" y="2514600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80559" y="2551176"/>
            <a:ext cx="1773936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2761488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개발 · 연계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51760" y="2761488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85815" y="2798064"/>
            <a:ext cx="3584448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3008376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AI 튜닝 · 검증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3008376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743700" y="3044952"/>
            <a:ext cx="2679191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255264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통합 테스트 · UAT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3255264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06840" y="3291840"/>
            <a:ext cx="1773936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3502152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오픈 · 안정화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51760" y="3502152"/>
            <a:ext cx="9052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817352" y="3538728"/>
            <a:ext cx="868680" cy="1828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  <a:ea typeface="Malgun Gothic"/>
              </a:rPr>
              <a:t>[담당 · 산출물]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3749039"/>
            <a:ext cx="2194560" cy="384048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850" b="1">
                <a:solidFill>
                  <a:srgbClr val="1A2233"/>
                </a:solidFill>
                <a:latin typeface="Malgun Gothic"/>
                <a:ea typeface="Malgun Gothic"/>
              </a:rPr>
              <a:t>마일스톤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3749039"/>
            <a:ext cx="9052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3" name="Diamond 92"/>
          <p:cNvSpPr/>
          <p:nvPr/>
        </p:nvSpPr>
        <p:spPr>
          <a:xfrm>
            <a:off x="2587752" y="3785615"/>
            <a:ext cx="128016" cy="128016"/>
          </a:xfrm>
          <a:prstGeom prst="diamond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2240279" y="3922776"/>
            <a:ext cx="822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5A6577"/>
                </a:solidFill>
                <a:latin typeface="Malgun Gothic"/>
                <a:ea typeface="Malgun Gothic"/>
              </a:rPr>
              <a:t>착수</a:t>
            </a:r>
          </a:p>
        </p:txBody>
      </p:sp>
      <p:sp>
        <p:nvSpPr>
          <p:cNvPr id="95" name="Diamond 94"/>
          <p:cNvSpPr/>
          <p:nvPr/>
        </p:nvSpPr>
        <p:spPr>
          <a:xfrm>
            <a:off x="5756148" y="3785615"/>
            <a:ext cx="128016" cy="128016"/>
          </a:xfrm>
          <a:prstGeom prst="diamond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5408676" y="3922776"/>
            <a:ext cx="822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5A6577"/>
                </a:solidFill>
                <a:latin typeface="Malgun Gothic"/>
                <a:ea typeface="Malgun Gothic"/>
              </a:rPr>
              <a:t>설계 승인</a:t>
            </a:r>
          </a:p>
        </p:txBody>
      </p:sp>
      <p:sp>
        <p:nvSpPr>
          <p:cNvPr id="97" name="Diamond 96"/>
          <p:cNvSpPr/>
          <p:nvPr/>
        </p:nvSpPr>
        <p:spPr>
          <a:xfrm>
            <a:off x="8924544" y="3785615"/>
            <a:ext cx="128016" cy="128016"/>
          </a:xfrm>
          <a:prstGeom prst="diamond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8577072" y="3922776"/>
            <a:ext cx="822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5A6577"/>
                </a:solidFill>
                <a:latin typeface="Malgun Gothic"/>
                <a:ea typeface="Malgun Gothic"/>
              </a:rPr>
              <a:t>개발 완료</a:t>
            </a:r>
          </a:p>
        </p:txBody>
      </p:sp>
      <p:sp>
        <p:nvSpPr>
          <p:cNvPr id="99" name="Diamond 98"/>
          <p:cNvSpPr/>
          <p:nvPr/>
        </p:nvSpPr>
        <p:spPr>
          <a:xfrm>
            <a:off x="10735056" y="3785615"/>
            <a:ext cx="128016" cy="128016"/>
          </a:xfrm>
          <a:prstGeom prst="diamond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10387584" y="3922776"/>
            <a:ext cx="822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5A6577"/>
                </a:solidFill>
                <a:latin typeface="Malgun Gothic"/>
                <a:ea typeface="Malgun Gothic"/>
              </a:rPr>
              <a:t>UAT 승인</a:t>
            </a:r>
          </a:p>
        </p:txBody>
      </p:sp>
      <p:sp>
        <p:nvSpPr>
          <p:cNvPr id="101" name="Diamond 100"/>
          <p:cNvSpPr/>
          <p:nvPr/>
        </p:nvSpPr>
        <p:spPr>
          <a:xfrm>
            <a:off x="11549786" y="3785615"/>
            <a:ext cx="128016" cy="128016"/>
          </a:xfrm>
          <a:prstGeom prst="diamond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11202314" y="3922776"/>
            <a:ext cx="8229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750" b="0">
                <a:solidFill>
                  <a:srgbClr val="5A6577"/>
                </a:solidFill>
                <a:latin typeface="Malgun Gothic"/>
                <a:ea typeface="Malgun Gothic"/>
              </a:rPr>
              <a:t>오픈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4224528"/>
            <a:ext cx="107259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역할 및 책임 (RACI)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57200" y="4553712"/>
            <a:ext cx="1127455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11311128" y="4288536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57200" y="4636008"/>
          <a:ext cx="11274552" cy="13075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1097280"/>
                <a:gridCol w="1097280"/>
                <a:gridCol w="1097280"/>
                <a:gridCol w="1097280"/>
                <a:gridCol w="1097280"/>
                <a:gridCol w="1280160"/>
                <a:gridCol w="121615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/ 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디자인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· 법무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정의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설계서 작성 · 검수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체크리스트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 수행 · 오픈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Ⅴ-5.  비기능 요구사항 및 설계 검수 체크리스트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오픈 전 합의해야 하는 품질 기준과 설계서 제출 전 셀프 점검 항목입니다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모든 점검 항목이 ■ 가 된 후 제출   |   UAT 시나리오(TC-ID)는 화면 ID와 연결하여 작성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7607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630936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345936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920240"/>
          <a:ext cx="6309360" cy="40782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005840"/>
                <a:gridCol w="3108960"/>
                <a:gridCol w="14630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기준 (작성 가이드)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응답 시간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조회 / AI 첫 토큰 / 업로드 기준 각각 정의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[조회 2초 · AI 5초]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동시 접속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피크 시간대 사용자 · 질의량 산정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[N명 · N건/분]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가용성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수준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· 점검 시간, 복구 목표(RTO / RPO)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[99.5%]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인증 · 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· 세션 만료 · 권한별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[세션 N분]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마스킹 · 보관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마스킹, 보관 · 파기, AI 입력 데이터 활용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[기준 입력]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접근성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 접근성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키보드 · 대체 텍스트 · 색 대비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[WCAG 2.1 AA]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호환성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브라우저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지원 브라우저 · 해상도 · 모바일 여부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[Chrome · Edge]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다국어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언어 · 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지원 언어, 날짜 · 숫자 표기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[한 · 영 · 중]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7040880" y="1463040"/>
            <a:ext cx="41422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설계 검수 체크리스트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40880" y="1792224"/>
            <a:ext cx="469087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7040880" y="1920240"/>
          <a:ext cx="4690872" cy="40599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474720"/>
                <a:gridCol w="57607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점검 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 중복 없음 · 화면 목록과 일치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번호 마커 ↔ 설명 번호 1:1 일치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상태별 화면(로딩 · 빈 값 · 오류 · 권한) 정의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역할별 노출이 권한 매트릭스와 일치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노출 문구가 메시지 ID로 등록됨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 항목 형식 · 검증 · 오류 문구 정의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 마스킹 · AI 입력 처리 기준 명시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용어 일치 · [대괄호] 잔존 없음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개정이력 · 버전 태그 · 이슈표 최신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Ⅴ-6.  UAT 테스트 시나리오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현업이 오픈 전 수행하는 인수 테스트 시나리오이며, 화면 ID · 요구사항 ID와 연결합니다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정상 · 예외 · 권한 · 경계값 시나리오를 화면별 최소 1건씩 작성하며, 결함은 이슈표(ISS-ID)로 연결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1188720"/>
                <a:gridCol w="2194560"/>
                <a:gridCol w="1371600"/>
                <a:gridCol w="2926080"/>
                <a:gridCol w="1645920"/>
                <a:gridCol w="9418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시나리오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시나리오 (사용자 관점)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사전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수행 절차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기대 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정상 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계정 보유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사번 · 비밀번호 입력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2. [로그인] 클릭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 이동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비밀번호 5회 오류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계정 보유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잘못된 비밀번호 5회 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계정 잠금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근거 포함 답변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규정 질문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2. 출처 패널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+ 출처 3건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없는 문서 비노출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제한 문서 관련 질문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제목 · 건수 비노출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싫어요 사유 제출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[싫어요] 2. 사유 선택 3. 제출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접수 토스트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 변경 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사용자 선택 2. 역할 변경 3. 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이력 기록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ADM-020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임베딩 실패 재실행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 실패 건 선택 2. [재실행]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상태 진행 중 전환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[Pass / Fail]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[고객사] AI Assistant 화면 설계서  |  [작성 부서]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S Proposal Navy">
  <a:themeElements>
    <a:clrScheme name="VAS Proposal Navy">
      <a:dk1>
        <a:srgbClr val="1A2233"/>
      </a:dk1>
      <a:lt1>
        <a:srgbClr val="FFFFFF"/>
      </a:lt1>
      <a:dk2>
        <a:srgbClr val="1B2A4A"/>
      </a:dk2>
      <a:lt2>
        <a:srgbClr val="E8ECF3"/>
      </a:lt2>
      <a:accent1>
        <a:srgbClr val="1B2A4A"/>
      </a:accent1>
      <a:accent2>
        <a:srgbClr val="2E4472"/>
      </a:accent2>
      <a:accent3>
        <a:srgbClr val="5A6577"/>
      </a:accent3>
      <a:accent4>
        <a:srgbClr val="DDE2EA"/>
      </a:accent4>
      <a:accent5>
        <a:srgbClr val="AFC0DD"/>
      </a:accent5>
      <a:accent6>
        <a:srgbClr val="7A8699"/>
      </a:accent6>
      <a:hlink>
        <a:srgbClr val="2E4472"/>
      </a:hlink>
      <a:folHlink>
        <a:srgbClr val="5A6577"/>
      </a:folHlink>
    </a:clrScheme>
    <a:fontScheme name="VAS Proposal Nav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55c7dc3-d019-40fa-a91f-518114ee30cb}" enabled="1" method="Standard" siteId="{a0863201-77ea-4254-a23b-acb1c17a3ad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4622</Words>
  <Application>Microsoft Macintosh PowerPoint</Application>
  <PresentationFormat>와이드스크린</PresentationFormat>
  <Paragraphs>1012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Malgun Gothic</vt:lpstr>
      <vt:lpstr>Arial</vt:lpstr>
      <vt:lpstr>VAS Proposal Navy</vt:lpstr>
      <vt:lpstr>스판덱스 베트남법인 공정 AI Agent 구축 제안서</vt:lpstr>
      <vt:lpstr>PowerPoint 프레젠테이션</vt:lpstr>
      <vt:lpstr>제안 요약</vt:lpstr>
      <vt:lpstr>제안 배경</vt:lpstr>
      <vt:lpstr>Ⅰ-1.  현 VAS 활용 현황</vt:lpstr>
      <vt:lpstr>Ⅰ-2.  로드맵</vt:lpstr>
      <vt:lpstr>1차 구축 방안</vt:lpstr>
      <vt:lpstr>Ⅱ-1.  구축 범위 및 아키텍처</vt:lpstr>
      <vt:lpstr>Ⅱ-2.  공정 용어 사전 구축</vt:lpstr>
      <vt:lpstr>Ⅱ-3.  활용 시나리오</vt:lpstr>
      <vt:lpstr>Ⅱ-4.  1차 특화 과제</vt:lpstr>
      <vt:lpstr>Ⅱ-5.  보안 및 운영 관리</vt:lpstr>
      <vt:lpstr>확장 방안</vt:lpstr>
      <vt:lpstr>Ⅲ-1.  2차 추진 과제 (베트남법인 AI Agent 고도화)</vt:lpstr>
      <vt:lpstr>Ⅲ-2.  단계별 서비스 범위</vt:lpstr>
      <vt:lpstr>Ⅲ-3.  추천 서비스 ① 일일 보고서 초안 작성</vt:lpstr>
      <vt:lpstr>Ⅲ-4.  추천 서비스 ② 품질 Lot 추적 · 클레임 대응</vt:lpstr>
      <vt:lpstr>Ⅲ-5.  추천 서비스 ③ 이탈 알림 조치 가이드</vt:lpstr>
      <vt:lpstr>Ⅲ-6.  추천 서비스 ④ 사절 원인 추정</vt:lpstr>
      <vt:lpstr>추진 계획</vt:lpstr>
      <vt:lpstr>Ⅳ-1.  추진 체계 및 일정</vt:lpstr>
      <vt:lpstr>Ⅳ-2.  운영 방안 및 협조 요청</vt:lpstr>
      <vt:lpstr>Ⅳ-3.  사전 협의 사항</vt:lpstr>
      <vt:lpstr>감사합니다</vt:lpstr>
    </vt:vector>
  </TitlesOfParts>
  <Company>효성ITX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스판덱스 베트남법인 공정 AI Agent 구축 제안서</dc:title>
  <dc:subject>PptxGenJS Presentation</dc:subject>
  <dc:creator>PptxGenJS</dc:creator>
  <cp:lastModifiedBy>이상윤 AI사업팀(LeeSangyun)</cp:lastModifiedBy>
  <cp:revision>4</cp:revision>
  <dcterms:created xsi:type="dcterms:W3CDTF">2026-10-12T05:13:43Z</dcterms:created>
  <dcterms:modified xsi:type="dcterms:W3CDTF">2026-10-12T05:20:23Z</dcterms:modified>
</cp:coreProperties>
</file>